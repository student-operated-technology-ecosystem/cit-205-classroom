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723c0cd3842c9" /><Relationship Type="http://schemas.openxmlformats.org/officeDocument/2006/relationships/extended-properties" Target="/docProps/app.xml" Id="R2af9dc74da52410a" /><Relationship Type="http://schemas.openxmlformats.org/officeDocument/2006/relationships/officeDocument" Target="/ppt/presentation.xml" Id="R8677a69f3d88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7feaa18bb147c7"/>
  </p:sldMasterIdLst>
  <p:notesMasterIdLst>
    <p:notesMasterId xmlns:r="http://schemas.openxmlformats.org/officeDocument/2006/relationships" r:id="Rcdfe7324049946f3"/>
  </p:notesMasterIdLst>
  <p:sldIdLst>
    <p:sldId xmlns:r="http://schemas.openxmlformats.org/officeDocument/2006/relationships" id="256" r:id="R187e11691d7247ac"/>
    <p:sldId xmlns:r="http://schemas.openxmlformats.org/officeDocument/2006/relationships" id="257" r:id="R302aeb280fbd49ca"/>
    <p:sldId xmlns:r="http://schemas.openxmlformats.org/officeDocument/2006/relationships" id="258" r:id="R1549344c962f4cd5"/>
    <p:sldId xmlns:r="http://schemas.openxmlformats.org/officeDocument/2006/relationships" id="259" r:id="R309f5910edd74824"/>
    <p:sldId xmlns:r="http://schemas.openxmlformats.org/officeDocument/2006/relationships" id="260" r:id="R74db52f2378444a1"/>
    <p:sldId xmlns:r="http://schemas.openxmlformats.org/officeDocument/2006/relationships" id="261" r:id="R3d3f2ce9d87942ae"/>
    <p:sldId xmlns:r="http://schemas.openxmlformats.org/officeDocument/2006/relationships" id="262" r:id="Rdb3180d75bb44089"/>
    <p:sldId xmlns:r="http://schemas.openxmlformats.org/officeDocument/2006/relationships" id="263" r:id="Re06e74bce5314732"/>
    <p:sldId xmlns:r="http://schemas.openxmlformats.org/officeDocument/2006/relationships" id="264" r:id="Rad5cb3b9e67a4b70"/>
    <p:sldId xmlns:r="http://schemas.openxmlformats.org/officeDocument/2006/relationships" id="265" r:id="Rd99e4ed012884c1e"/>
    <p:sldId xmlns:r="http://schemas.openxmlformats.org/officeDocument/2006/relationships" id="266" r:id="Re0d689f41b1c4ffb"/>
    <p:sldId xmlns:r="http://schemas.openxmlformats.org/officeDocument/2006/relationships" id="267" r:id="R037a41d32123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c1c81079424ca9" /><Relationship Type="http://schemas.openxmlformats.org/officeDocument/2006/relationships/slideMaster" Target="/ppt/slideMasters/slideMaster1.xml" Id="R6d7feaa18bb147c7" /><Relationship Type="http://schemas.openxmlformats.org/officeDocument/2006/relationships/notesMaster" Target="/ppt/notesMasters/notesMaster1.xml" Id="Rcdfe7324049946f3" /><Relationship Type="http://schemas.openxmlformats.org/officeDocument/2006/relationships/presProps" Target="/ppt/presProps.xml" Id="Reffcfdae37e54159" /><Relationship Type="http://schemas.openxmlformats.org/officeDocument/2006/relationships/tableStyles" Target="/ppt/tableStyles.xml" Id="Rf5a7144737e745d3" /><Relationship Type="http://schemas.openxmlformats.org/officeDocument/2006/relationships/slide" Target="/ppt/slides/slide1.xml" Id="R187e11691d7247ac" /><Relationship Type="http://schemas.openxmlformats.org/officeDocument/2006/relationships/slide" Target="/ppt/slides/slide2.xml" Id="R302aeb280fbd49ca" /><Relationship Type="http://schemas.openxmlformats.org/officeDocument/2006/relationships/slide" Target="/ppt/slides/slide3.xml" Id="R1549344c962f4cd5" /><Relationship Type="http://schemas.openxmlformats.org/officeDocument/2006/relationships/slide" Target="/ppt/slides/slide4.xml" Id="R309f5910edd74824" /><Relationship Type="http://schemas.openxmlformats.org/officeDocument/2006/relationships/slide" Target="/ppt/slides/slide5.xml" Id="R74db52f2378444a1" /><Relationship Type="http://schemas.openxmlformats.org/officeDocument/2006/relationships/slide" Target="/ppt/slides/slide6.xml" Id="R3d3f2ce9d87942ae" /><Relationship Type="http://schemas.openxmlformats.org/officeDocument/2006/relationships/slide" Target="/ppt/slides/slide7.xml" Id="Rdb3180d75bb44089" /><Relationship Type="http://schemas.openxmlformats.org/officeDocument/2006/relationships/slide" Target="/ppt/slides/slide8.xml" Id="Re06e74bce5314732" /><Relationship Type="http://schemas.openxmlformats.org/officeDocument/2006/relationships/slide" Target="/ppt/slides/slide9.xml" Id="Rad5cb3b9e67a4b70" /><Relationship Type="http://schemas.openxmlformats.org/officeDocument/2006/relationships/slide" Target="/ppt/slides/slide10.xml" Id="Rd99e4ed012884c1e" /><Relationship Type="http://schemas.openxmlformats.org/officeDocument/2006/relationships/slide" Target="/ppt/slides/slide11.xml" Id="Re0d689f41b1c4ffb" /><Relationship Type="http://schemas.openxmlformats.org/officeDocument/2006/relationships/slide" Target="/ppt/slides/slide12.xml" Id="R037a41d32123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c4300b6eb4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e9ba5d2524d58" /><Relationship Type="http://schemas.openxmlformats.org/officeDocument/2006/relationships/notesMaster" Target="/ppt/notesMasters/notesMaster1.xml" Id="R7828e1a26e5048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7a75ed95544004" /><Relationship Type="http://schemas.openxmlformats.org/officeDocument/2006/relationships/notesMaster" Target="/ppt/notesMasters/notesMaster1.xml" Id="Rc3f02a0468b646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5f2b66afb84853" /><Relationship Type="http://schemas.openxmlformats.org/officeDocument/2006/relationships/notesMaster" Target="/ppt/notesMasters/notesMaster1.xml" Id="R503bdfeff5b5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2d876d8994dc8" /><Relationship Type="http://schemas.openxmlformats.org/officeDocument/2006/relationships/notesMaster" Target="/ppt/notesMasters/notesMaster1.xml" Id="Reed8116827f540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5aa69bf58e4c53" /><Relationship Type="http://schemas.openxmlformats.org/officeDocument/2006/relationships/notesMaster" Target="/ppt/notesMasters/notesMaster1.xml" Id="R59bcb1c316b54d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6ffb3892c84d3a" /><Relationship Type="http://schemas.openxmlformats.org/officeDocument/2006/relationships/notesMaster" Target="/ppt/notesMasters/notesMaster1.xml" Id="R774d150ce99e4e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d28ceb2fa24ad7" /><Relationship Type="http://schemas.openxmlformats.org/officeDocument/2006/relationships/notesMaster" Target="/ppt/notesMasters/notesMaster1.xml" Id="Rd4d0e776946541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e95cd4be0b4a50" /><Relationship Type="http://schemas.openxmlformats.org/officeDocument/2006/relationships/notesMaster" Target="/ppt/notesMasters/notesMaster1.xml" Id="Raa24fc814f1247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276b556f0e4579" /><Relationship Type="http://schemas.openxmlformats.org/officeDocument/2006/relationships/notesMaster" Target="/ppt/notesMasters/notesMaster1.xml" Id="R09e3cdc7c11a43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afbb326aec4384" /><Relationship Type="http://schemas.openxmlformats.org/officeDocument/2006/relationships/notesMaster" Target="/ppt/notesMasters/notesMaster1.xml" Id="R8a4879143c1c43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8958ae800e4efb" /><Relationship Type="http://schemas.openxmlformats.org/officeDocument/2006/relationships/notesMaster" Target="/ppt/notesMasters/notesMaster1.xml" Id="Ra8c6746f66d449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ee3e9d747b4c19" /><Relationship Type="http://schemas.openxmlformats.org/officeDocument/2006/relationships/notesMaster" Target="/ppt/notesMasters/notesMaster1.xml" Id="Rfa299ddfff43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Use the existing ACE Post-Incident Review and SOTE Incident Log. Open the worksheet and demonstrate each field in a personal copy. Keep student submissions and grade settings unchanged.</a:t>
            </a:r>
          </a:p>
          <a:p xmlns:a="http://schemas.openxmlformats.org/drawingml/2006/main">
            <a:r>
              <a:t>STUDENT ACTION: CIT-205 · Reporting walkthrough LEARN → PRACTICE → OPERATE → QUALIFY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Model a two-sentence summary with source and date. This is a classroom example, not Red Bull’s actual ticket. Avoid invented incident IDs, start times or closure claims. Students select their own case.</a:t>
            </a:r>
          </a:p>
          <a:p xmlns:a="http://schemas.openxmlformats.org/drawingml/2006/main">
            <a:r>
              <a:t>STUDENT ACTION: Case C example: degraded driver-to-pit speech during the race. Record event, service, reporter, owner and current status. Root cause: unverified.</a:t>
            </a:r>
          </a:p>
          <a:p xmlns:a="http://schemas.openxmlformats.org/drawingml/2006/main">
            <a:r>
              <a:t>SOURCES: https://api.fia.com/news/f1-2026-singapore-grand-prix-post-race-press-conference-transcript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Separate known affected scope from potential safety impact. Students explain priority using impact and urgency. Do not assign an official FIA severity number. If using a local severity scale, state the criteria and label the rating as a student assessment.</a:t>
            </a:r>
          </a:p>
          <a:p xmlns:a="http://schemas.openxmlformats.org/drawingml/2006/main">
            <a:r>
              <a:t>STUDENT ACTION: Service: strategy communication. Scope: one driver’s reported radio difficulty. Impact: slower or ambiguous exchanges under race pressure.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Demonstrate the expected-versus-actual table in the worksheet. Write observations with sources. Avoid “radio software crashed” because no reviewed source establishes that diagnosis.</a:t>
            </a:r>
          </a:p>
          <a:p xmlns:a="http://schemas.openxmlformats.org/drawingml/2006/main">
            <a:r>
              <a:t>STUDENT ACTION: Expected: intelligible questions and replies. Observed: coded responses replace usable speech. Unknown: the component or condition causing degradation.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Use a relative sequence when exact event times are absent: symptom, coded-question fallback, race continuation, post-race comment. Do not invent lap numbers. In the log, append corrections with a new entry instead of silently replacing earlier reasoning.</a:t>
            </a:r>
          </a:p>
          <a:p xmlns:a="http://schemas.openxmlformats.org/drawingml/2006/main">
            <a:r>
              <a:t>STUDENT ACTION: For each item: source, date, timestamp basis and claim. Mark observation, reported statement or hypothesis. Keep event time separate from publication time.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Demonstrate microphone/transmit-path versus location-dependent RF hypotheses. Ask what a bench test and location-correlated radio diagnostic could reveal. These are proposed investigations, not actions reported in the race. Stop at the authority boundary.</a:t>
            </a:r>
          </a:p>
          <a:p xmlns:a="http://schemas.openxmlformats.org/drawingml/2006/main">
            <a:r>
              <a:t>STUDENT ACTION: State competing hypotheses. Choose a safe test that would separate them. Record the expected result before testing.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Model: driver replies remain degraded, coded responses support strategy communication, technical cause is still under review. A classroom escalation proposal is distinct from a verified team action. Record who should act, what evidence they need and when to re-evaluate.</a:t>
            </a:r>
          </a:p>
          <a:p xmlns:a="http://schemas.openxmlformats.org/drawingml/2006/main">
            <a:r>
              <a:t>STUDENT ACTION: Document the actual workaround and its source. Propose a responsible owner for unresolved diagnosis. Give stakeholders a factual update and next checkpoint.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Keep the existing assignment framework. If no software patch is documented, evaluate the workaround and a proposed diagnostic/change rather than fabricate an emergency patch. An honest not-documented statement is stronger than invented certainty.</a:t>
            </a:r>
          </a:p>
          <a:p xmlns:a="http://schemas.openxmlformats.org/drawingml/2006/main">
            <a:r>
              <a:t>STUDENT ACTION: Identify at least three practices in the case. Compare action risk with inaction risk. Name authority, checks, rollback and validation.</a:t>
            </a:r>
          </a:p>
          <a:p xmlns:a="http://schemas.openxmlformats.org/drawingml/2006/main">
            <a:r>
              <a:t>SOURCES: https://www.peoplecert.org/browse-certifications/it-governance-and-service-management/ITIL-1/itil4-practices-incident-management-3684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Ask students what evidence would permit incident closure under a defined acceptable-service threshold. If public evidence is incomplete, use restored with workaround or status unverified with an explanation. Do not claim permanent recovery.</a:t>
            </a:r>
          </a:p>
          <a:p xmlns:a="http://schemas.openxmlformats.org/drawingml/2006/main">
            <a:r>
              <a:t>STUDENT ACTION: Operation continued with a communication workaround. Radio restoration is not established by the race result. Separate incident status from unresolved problem work.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Demonstrate an improvement recommendation: rehearse a fallback code with explicit acknowledgement and timeout in an approved simulation. A candidate KB entry needs scope, prerequisites, stop conditions, validation and review before publication. Field Guide pp.77–84.</a:t>
            </a:r>
          </a:p>
          <a:p xmlns:a="http://schemas.openxmlformats.org/drawingml/2006/main">
            <a:r>
              <a:t>STUDENT ACTION: What supported safe operation? What ambiguity remains? Recommend an owner, action and measurable validation.</a:t>
            </a:r>
          </a:p>
          <a:p xmlns:a="http://schemas.openxmlformats.org/drawingml/2006/main">
            <a:r>
              <a:t>SOURCES: SOTE Field Guide v1.0, pp.60–74, 77–84, 108–113, 130–133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Open the existing Day 16 assignment and log template. Instructor reveals the scenario incrementally from the hidden NOC document. Use synthetic evidence only. Students record a prediction before action, actual result after it and why the next decision changed.</a:t>
            </a:r>
          </a:p>
          <a:p xmlns:a="http://schemas.openxmlformats.org/drawingml/2006/main">
            <a:r>
              <a:t>STUDENT ACTION: TIME · OBSERVATION · HYPOTHESIS ACTION · RESULT · NEXT DECISION Append each meaningful update during the NOC simulation.</a:t>
            </a:r>
          </a:p>
          <a:p xmlns:a="http://schemas.openxmlformats.org/drawingml/2006/main">
            <a:r>
              <a:t>SOURCES: https://courses.ccac.edu/ultra/courses/_227360_1/assessment/test/_21351594_1?gradeitemView=details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/ DISCUSS: Return to the existing Day 15 assignment. Submit the professional report using its existing upload/text workflow. Save the report and log as evidence for later personal methodology qualification. Preserve no due dates, unlimited attempts and existing points.</a:t>
            </a:r>
          </a:p>
          <a:p xmlns:a="http://schemas.openxmlformats.org/drawingml/2006/main">
            <a:r>
              <a:t>STUDENT ACTION: A reviewer can trace every factual claim. Uncertainty and proposed actions have visible labels. Recovery evidence and a useful handoff close the report.</a:t>
            </a:r>
          </a:p>
          <a:p xmlns:a="http://schemas.openxmlformats.org/drawingml/2006/main">
            <a:r>
              <a:t>SOURCES: https://courses.ccac.edu/ultra/courses/_227360_1/assessment/test/_21351590_1?gradeitemView=details</a:t>
            </a:r>
          </a:p>
          <a:p xmlns:a="http://schemas.openxmlformats.org/drawingml/2006/main">
            <a:r>
              <a:t>VIDEO: No embedded video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623777f2347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24e8baf6b49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9d742b9c341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3419d4d054c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ec7c396764a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a3de6afec47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13B10E-3E58-44FD-830A-1F60A9DDD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A6D6FD-97C1-4FB2-973D-99B609C4D0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F6F1CF-82FF-4EF1-B12E-E9BB8BAE4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83AD4-95A9-48C8-9E60-F5627AD25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582D11-4911-49D4-B8CD-D72894CEEE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B34E0F-391D-48F8-A3E6-F10C5E423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FB32B9-DB52-41AE-9B3B-C0BBC59D5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AABB7C-8536-48D5-A087-7216D51259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DD91B4-859B-4AB0-AF98-1AB05F7181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B0E004-90C4-4595-876F-76E00BFCB1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e678d79de4859" /><Relationship Type="http://schemas.openxmlformats.org/officeDocument/2006/relationships/slideLayout" Target="/ppt/slideLayouts/slideLayout1.xml" Id="R98a330f0ee15492a" /><Relationship Type="http://schemas.openxmlformats.org/officeDocument/2006/relationships/slideLayout" Target="/ppt/slideLayouts/slideLayout2.xml" Id="Rc0220514684b4def" /><Relationship Type="http://schemas.openxmlformats.org/officeDocument/2006/relationships/slideLayout" Target="/ppt/slideLayouts/slideLayout3.xml" Id="R20d59774374f44e0" /><Relationship Type="http://schemas.openxmlformats.org/officeDocument/2006/relationships/slideLayout" Target="/ppt/slideLayouts/slideLayout4.xml" Id="R060f4c1303f94cd5" /><Relationship Type="http://schemas.openxmlformats.org/officeDocument/2006/relationships/slideLayout" Target="/ppt/slideLayouts/slideLayout5.xml" Id="Re5281d46abcd42bd" /><Relationship Type="http://schemas.openxmlformats.org/officeDocument/2006/relationships/slideLayout" Target="/ppt/slideLayouts/slideLayout6.xml" Id="Re5ae3d41f47e47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330f0ee15492a"/>
    <p:sldLayoutId xmlns:r="http://schemas.openxmlformats.org/officeDocument/2006/relationships" id="2147483650" r:id="Rc0220514684b4def"/>
    <p:sldLayoutId xmlns:r="http://schemas.openxmlformats.org/officeDocument/2006/relationships" id="2147483651" r:id="R20d59774374f44e0"/>
    <p:sldLayoutId xmlns:r="http://schemas.openxmlformats.org/officeDocument/2006/relationships" id="2147483652" r:id="R060f4c1303f94cd5"/>
    <p:sldLayoutId xmlns:r="http://schemas.openxmlformats.org/officeDocument/2006/relationships" id="2147483653" r:id="Re5281d46abcd42bd"/>
    <p:sldLayoutId xmlns:r="http://schemas.openxmlformats.org/officeDocument/2006/relationships" id="2147483654" r:id="Re5ae3d41f47e47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56b98362a40aa" /><Relationship Type="http://schemas.openxmlformats.org/officeDocument/2006/relationships/notesSlide" Target="/ppt/notesSlides/notesSlide1.xml" Id="R6c345fba93cf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4935607e64976" /><Relationship Type="http://schemas.openxmlformats.org/officeDocument/2006/relationships/hyperlink" Target="https://api.fia.com/news/f1-2026-singapore-grand-prix-post-race-press-conference-transcript" TargetMode="External" Id="Rcfe4f82ca6854332" /><Relationship Type="http://schemas.openxmlformats.org/officeDocument/2006/relationships/notesSlide" Target="/ppt/notesSlides/notesSlide2.xml" Id="Ra5e08b55b7e3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db90eb6bc47bc" /><Relationship Type="http://schemas.openxmlformats.org/officeDocument/2006/relationships/notesSlide" Target="/ppt/notesSlides/notesSlide3.xml" Id="R27def24d54f049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019a3264c46dc" /><Relationship Type="http://schemas.openxmlformats.org/officeDocument/2006/relationships/notesSlide" Target="/ppt/notesSlides/notesSlide4.xml" Id="R4453f4ada2ac40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a53745e87413f" /><Relationship Type="http://schemas.openxmlformats.org/officeDocument/2006/relationships/notesSlide" Target="/ppt/notesSlides/notesSlide5.xml" Id="R01d863e9c1f8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dc3b2fa154889" /><Relationship Type="http://schemas.openxmlformats.org/officeDocument/2006/relationships/notesSlide" Target="/ppt/notesSlides/notesSlide6.xml" Id="R7a55cd0aeaf24b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5f85bec8e4038" /><Relationship Type="http://schemas.openxmlformats.org/officeDocument/2006/relationships/notesSlide" Target="/ppt/notesSlides/notesSlide7.xml" Id="Ra4be569efb0d47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28e979d3a4dbe" /><Relationship Type="http://schemas.openxmlformats.org/officeDocument/2006/relationships/hyperlink" Target="https://www.peoplecert.org/browse-certifications/it-governance-and-service-management/ITIL-1/itil4-practices-incident-management-3684" TargetMode="External" Id="R475a210279f7419a" /><Relationship Type="http://schemas.openxmlformats.org/officeDocument/2006/relationships/notesSlide" Target="/ppt/notesSlides/notesSlide8.xml" Id="R825e62180c9240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a5fc7357840a7" /><Relationship Type="http://schemas.openxmlformats.org/officeDocument/2006/relationships/notesSlide" Target="/ppt/notesSlides/notesSlide9.xml" Id="R6de54e6b491242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c90520e684ec8" /><Relationship Type="http://schemas.openxmlformats.org/officeDocument/2006/relationships/notesSlide" Target="/ppt/notesSlides/notesSlide10.xml" Id="R96331e74f44f43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f78d811294297" /><Relationship Type="http://schemas.openxmlformats.org/officeDocument/2006/relationships/hyperlink" Target="https://courses.ccac.edu/ultra/courses/_227360_1/assessment/test/_21351594_1?gradeitemView=details" TargetMode="External" Id="R3259a718d92b4a9a" /><Relationship Type="http://schemas.openxmlformats.org/officeDocument/2006/relationships/notesSlide" Target="/ppt/notesSlides/notesSlide11.xml" Id="R2a876dd18fac49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009a2513643e7" /><Relationship Type="http://schemas.openxmlformats.org/officeDocument/2006/relationships/hyperlink" Target="https://courses.ccac.edu/ultra/courses/_227360_1/assessment/test/_21351590_1?gradeitemView=details" TargetMode="External" Id="R23883d2efce3488b" /><Relationship Type="http://schemas.openxmlformats.org/officeDocument/2006/relationships/notesSlide" Target="/ppt/notesSlides/notesSlide12.xml" Id="R1fd8c5a9ff7341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B99A1-9733-4792-B013-7D7F2D91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5BF62-54B5-474C-84CA-124CCF1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professional incident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E460F-3C89-4912-B70E-A91680B7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CIT-205 · Reporting walkthrough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LEARN → PRACTICE → OPERATE → QUALIFY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4104B-9F27-43B1-AF9D-848FE046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5552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39B23-5CC1-4422-9C78-CF2FDF9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CC0C0-ADDA-45F4-B41D-B7D8A58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Incident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16BF3-74B4-4732-9C21-1CE78404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Case C example: degraded driver-to-pit speech during the race.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Record event, service, reporter, owner and current status.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Root cause: unverified.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CAB4F-1F09-4698-BC9E-8A70F8F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fe4f82ca6854332"/>
              </a:rPr>
              <a:t>Open source / fallback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446F1-C9C4-430F-AD7E-1C9DC8AE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68602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AAFC7-0A05-4511-A7E6-F0BBC64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FE390-8818-4B73-90C8-C1932DA8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Impact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2FEF6-95D6-40D3-AEB2-7BF665FD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Service: strategy communication.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Scope: one driver’s reported radio difficulty.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Impact: slower or ambiguous exchanges under race pressure.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F3003-0022-4845-9251-F38CA86E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07530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6085D-7946-4CEA-9225-74B7D5A0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C83C9-F738-4487-A398-A737B52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Expected and actual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E0EB3-B931-4C0A-BCB5-E1481F1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Expected: intelligible questions and replies.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Observed: coded responses replace usable speech.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Unknown: the component or condition causing degradation.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32CA1-077C-4955-A911-1EC6B18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8511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C569B-549D-46C7-8555-C57D8F1C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055E4-AE3A-43CB-A925-12AE5F4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Evidence register and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E1627-3FAF-418F-A0D2-7D4EE5C3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For each item: source, date, timestamp basis and claim.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Mark observation, reported statement or hypothesis.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Keep event time separate from publication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C999F-D31A-4E25-A4C4-FA4A12E4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1417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5B01D-26DD-47CE-AF0B-D93087C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27E34-55A3-4621-8A75-4260367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68963-A552-4550-A6FA-F5AD118E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State competing hypotheses.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Choose a safe test that would separate them.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Record the expected result before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C337A-D481-4208-9CDC-EF2658C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7155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D0CD5-7A4A-4BD5-924C-3D93B34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8C513-66A8-406D-A3EB-073122DB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Response and escalation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1F6CC-011F-4D35-9C78-6D96A19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Document the actual workaround and its source.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Propose a responsible owner for unresolved diagnosis.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Give stakeholders a factual update and next checkpoint.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4CBD6-EFB0-498C-81FD-468E4040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271894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C4802-F25F-460B-8AD1-2EA326FB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4CBFF-B7D3-4A4B-8550-41CD5841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7. ITIL and change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93F04-0808-4B51-8D2F-C7FF0C8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Identify at least three practices in the case.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Compare action risk with inaction risk.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Name authority, checks, rollback and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602FD-20B7-4C5D-89FB-BE621C64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75a210279f7419a"/>
              </a:rPr>
              <a:t>Open source / fallback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5A4B1-01E8-437F-B887-93B55293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1649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E182C-6EF3-43BC-8BAD-C62C694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2AFBE-E34C-4AD7-B624-F07B211B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8. Recovery and remaining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0A47D-40C5-48C1-AED7-A95543A5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Operation continued with a communication workaround.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Radio restoration is not established by the race result.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Separate incident status from unresolved problem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83FEF-4A57-43F6-8392-796A5076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59684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8C501-8F75-413C-B001-DC704C9F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C776C-B56F-423C-B60C-49257940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9. Review and knowledge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E951F-94DF-404C-B00E-933A5859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What supported safe operation?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What ambiguity remains?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Recommend an owner, action and measurable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D1636-DAD8-4043-8AE8-A80E9E2B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3363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348E3-1832-43AB-958C-30D7C4DE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D523F-C26A-4EC5-958D-38A3E2B3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10. Operate the six-field 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2B906-059B-4480-8C7B-2B5FE9B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TIME · OBSERVATION · HYPOTHESIS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ACTION · RESULT · NEXT DECISION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Append each meaningful update during the NOC simulation.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1C24-2638-420F-84A8-1993B3ED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259a718d92b4a9a"/>
              </a:rPr>
              <a:t>Open existing assignment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1F56-1756-4768-9691-30E6AB6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96024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07EB3-547F-427C-9439-4DE6C31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rPr>
              <a:t>SOTE / CIT-205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FBC15-06E9-40E9-884A-C8B90242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11. Qualification and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60C8A-9648-46DF-8832-BEC88628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95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A reviewer can trace every factual claim.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Uncertainty and proposed actions have visible labels.</a:t>
            </a:r>
          </a:p>
          <a:p xmlns:a="http://schemas.openxmlformats.org/drawingml/2006/main">
            <a:pPr>
              <a:def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FF6FA"/>
                </a:solidFill>
                <a:latin typeface="DejaVu Sans"/>
                <a:ea typeface="DejaVu Sans"/>
                <a:cs typeface="DejaVu Sans"/>
              </a:rPr>
              <a:t>Recovery evidence and a useful handoff close the 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85357-080B-46E5-AB39-A48024D4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DAC6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3883d2efce3488b"/>
              </a:rPr>
              <a:t>Open existing assignment 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E9039-5C10-4645-A603-8A69440F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3B6C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847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2026-10-11T19:25:30.4620000Z</dcterms:created>
  <dcterms:modified xsi:type="dcterms:W3CDTF">2026-10-11T19:25:30.4620000Z</dcterms:modified>
</coreProperties>
</file>