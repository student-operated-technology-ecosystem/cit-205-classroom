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afbc0188c84b13" /><Relationship Type="http://schemas.openxmlformats.org/officeDocument/2006/relationships/extended-properties" Target="/docProps/app.xml" Id="R79cf5b7ea80d4ac1" /><Relationship Type="http://schemas.openxmlformats.org/officeDocument/2006/relationships/officeDocument" Target="/ppt/presentation.xml" Id="R3082ab794c984a67" /></Relationships>
</file>

<file path=ppt/presentation.xml><?xml version="1.0" encoding="utf-8"?>
<p:presentation xmlns:p="http://schemas.openxmlformats.org/presentationml/2006/main">
  <p:sldMasterIdLst>
    <p:sldMasterId xmlns:r="http://schemas.openxmlformats.org/officeDocument/2006/relationships" id="2147483648" r:id="R77b88ccc92a0444e"/>
  </p:sldMasterIdLst>
  <p:notesMasterIdLst>
    <p:notesMasterId xmlns:r="http://schemas.openxmlformats.org/officeDocument/2006/relationships" r:id="R7a85b863e1d245f0"/>
  </p:notesMasterIdLst>
  <p:sldIdLst>
    <p:sldId xmlns:r="http://schemas.openxmlformats.org/officeDocument/2006/relationships" id="256" r:id="R1237a5abf1b44620"/>
    <p:sldId xmlns:r="http://schemas.openxmlformats.org/officeDocument/2006/relationships" id="257" r:id="R98528f08e5624c2f"/>
    <p:sldId xmlns:r="http://schemas.openxmlformats.org/officeDocument/2006/relationships" id="258" r:id="R8ae21d0b427249f4"/>
    <p:sldId xmlns:r="http://schemas.openxmlformats.org/officeDocument/2006/relationships" id="259" r:id="R75b272205e6c412c"/>
    <p:sldId xmlns:r="http://schemas.openxmlformats.org/officeDocument/2006/relationships" id="260" r:id="Rf2eb29488aad4700"/>
    <p:sldId xmlns:r="http://schemas.openxmlformats.org/officeDocument/2006/relationships" id="261" r:id="R337f84e0dd2b4d2b"/>
    <p:sldId xmlns:r="http://schemas.openxmlformats.org/officeDocument/2006/relationships" id="262" r:id="R169f69a7640a40ee"/>
    <p:sldId xmlns:r="http://schemas.openxmlformats.org/officeDocument/2006/relationships" id="263" r:id="Rf3cb87ddd2f749a5"/>
    <p:sldId xmlns:r="http://schemas.openxmlformats.org/officeDocument/2006/relationships" id="264" r:id="R0260fc196f2a42e5"/>
    <p:sldId xmlns:r="http://schemas.openxmlformats.org/officeDocument/2006/relationships" id="265" r:id="Rb88977ed40844a36"/>
    <p:sldId xmlns:r="http://schemas.openxmlformats.org/officeDocument/2006/relationships" id="266" r:id="R4080fb2b9ba74978"/>
    <p:sldId xmlns:r="http://schemas.openxmlformats.org/officeDocument/2006/relationships" id="267" r:id="R4b77452cd086492b"/>
    <p:sldId xmlns:r="http://schemas.openxmlformats.org/officeDocument/2006/relationships" id="268" r:id="Rd3dd6f34698948e5"/>
    <p:sldId xmlns:r="http://schemas.openxmlformats.org/officeDocument/2006/relationships" id="269" r:id="R63a5ecf307044fc7"/>
    <p:sldId xmlns:r="http://schemas.openxmlformats.org/officeDocument/2006/relationships" id="270" r:id="Rfeaa3705959f4fe6"/>
    <p:sldId xmlns:r="http://schemas.openxmlformats.org/officeDocument/2006/relationships" id="271" r:id="Re1925fb87e6b4f2a"/>
    <p:sldId xmlns:r="http://schemas.openxmlformats.org/officeDocument/2006/relationships" id="272" r:id="R5a5440c99d064c3c"/>
    <p:sldId xmlns:r="http://schemas.openxmlformats.org/officeDocument/2006/relationships" id="273" r:id="R110fdb694e194092"/>
    <p:sldId xmlns:r="http://schemas.openxmlformats.org/officeDocument/2006/relationships" id="274" r:id="R895d4980efee40c8"/>
    <p:sldId xmlns:r="http://schemas.openxmlformats.org/officeDocument/2006/relationships" id="275" r:id="R574f6c2cd36a4233"/>
    <p:sldId xmlns:r="http://schemas.openxmlformats.org/officeDocument/2006/relationships" id="276" r:id="Ra136865ab03240d8"/>
    <p:sldId xmlns:r="http://schemas.openxmlformats.org/officeDocument/2006/relationships" id="277" r:id="R0663800f33a44d24"/>
    <p:sldId xmlns:r="http://schemas.openxmlformats.org/officeDocument/2006/relationships" id="278" r:id="Reabf060ac6fd4afe"/>
    <p:sldId xmlns:r="http://schemas.openxmlformats.org/officeDocument/2006/relationships" id="279" r:id="Rc413bcda18f0404e"/>
    <p:sldId xmlns:r="http://schemas.openxmlformats.org/officeDocument/2006/relationships" id="280" r:id="R3097a54d86a14335"/>
    <p:sldId xmlns:r="http://schemas.openxmlformats.org/officeDocument/2006/relationships" id="281" r:id="Rf6b4f10314df4b8e"/>
    <p:sldId xmlns:r="http://schemas.openxmlformats.org/officeDocument/2006/relationships" id="282" r:id="R2c141fb0bf1a4676"/>
    <p:sldId xmlns:r="http://schemas.openxmlformats.org/officeDocument/2006/relationships" id="283" r:id="R23f14f8fec504664"/>
    <p:sldId xmlns:r="http://schemas.openxmlformats.org/officeDocument/2006/relationships" id="284" r:id="Rd6a2f9822e5e493b"/>
    <p:sldId xmlns:r="http://schemas.openxmlformats.org/officeDocument/2006/relationships" id="285" r:id="R73c088938bcc4c23"/>
    <p:sldId xmlns:r="http://schemas.openxmlformats.org/officeDocument/2006/relationships" id="286" r:id="R068a8c3d815242fb"/>
    <p:sldId xmlns:r="http://schemas.openxmlformats.org/officeDocument/2006/relationships" id="287" r:id="R818059a4c3cd4c2b"/>
    <p:sldId xmlns:r="http://schemas.openxmlformats.org/officeDocument/2006/relationships" id="288" r:id="Ra84993f0207a4e22"/>
    <p:sldId xmlns:r="http://schemas.openxmlformats.org/officeDocument/2006/relationships" id="289" r:id="R8d08f106c6054e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24ca6153384b0b" /><Relationship Type="http://schemas.openxmlformats.org/officeDocument/2006/relationships/slideMaster" Target="/ppt/slideMasters/slideMaster1.xml" Id="R77b88ccc92a0444e" /><Relationship Type="http://schemas.openxmlformats.org/officeDocument/2006/relationships/notesMaster" Target="/ppt/notesMasters/notesMaster1.xml" Id="R7a85b863e1d245f0" /><Relationship Type="http://schemas.openxmlformats.org/officeDocument/2006/relationships/presProps" Target="/ppt/presProps.xml" Id="R60315c5f547c443a" /><Relationship Type="http://schemas.openxmlformats.org/officeDocument/2006/relationships/tableStyles" Target="/ppt/tableStyles.xml" Id="Ra706822c01c9430a" /><Relationship Type="http://schemas.openxmlformats.org/officeDocument/2006/relationships/slide" Target="/ppt/slides/slide1.xml" Id="R1237a5abf1b44620" /><Relationship Type="http://schemas.openxmlformats.org/officeDocument/2006/relationships/slide" Target="/ppt/slides/slide2.xml" Id="R98528f08e5624c2f" /><Relationship Type="http://schemas.openxmlformats.org/officeDocument/2006/relationships/slide" Target="/ppt/slides/slide3.xml" Id="R8ae21d0b427249f4" /><Relationship Type="http://schemas.openxmlformats.org/officeDocument/2006/relationships/slide" Target="/ppt/slides/slide4.xml" Id="R75b272205e6c412c" /><Relationship Type="http://schemas.openxmlformats.org/officeDocument/2006/relationships/slide" Target="/ppt/slides/slide5.xml" Id="Rf2eb29488aad4700" /><Relationship Type="http://schemas.openxmlformats.org/officeDocument/2006/relationships/slide" Target="/ppt/slides/slide6.xml" Id="R337f84e0dd2b4d2b" /><Relationship Type="http://schemas.openxmlformats.org/officeDocument/2006/relationships/slide" Target="/ppt/slides/slide7.xml" Id="R169f69a7640a40ee" /><Relationship Type="http://schemas.openxmlformats.org/officeDocument/2006/relationships/slide" Target="/ppt/slides/slide8.xml" Id="Rf3cb87ddd2f749a5" /><Relationship Type="http://schemas.openxmlformats.org/officeDocument/2006/relationships/slide" Target="/ppt/slides/slide9.xml" Id="R0260fc196f2a42e5" /><Relationship Type="http://schemas.openxmlformats.org/officeDocument/2006/relationships/slide" Target="/ppt/slides/slide10.xml" Id="Rb88977ed40844a36" /><Relationship Type="http://schemas.openxmlformats.org/officeDocument/2006/relationships/slide" Target="/ppt/slides/slide11.xml" Id="R4080fb2b9ba74978" /><Relationship Type="http://schemas.openxmlformats.org/officeDocument/2006/relationships/slide" Target="/ppt/slides/slide12.xml" Id="R4b77452cd086492b" /><Relationship Type="http://schemas.openxmlformats.org/officeDocument/2006/relationships/slide" Target="/ppt/slides/slide13.xml" Id="Rd3dd6f34698948e5" /><Relationship Type="http://schemas.openxmlformats.org/officeDocument/2006/relationships/slide" Target="/ppt/slides/slide14.xml" Id="R63a5ecf307044fc7" /><Relationship Type="http://schemas.openxmlformats.org/officeDocument/2006/relationships/slide" Target="/ppt/slides/slide15.xml" Id="Rfeaa3705959f4fe6" /><Relationship Type="http://schemas.openxmlformats.org/officeDocument/2006/relationships/slide" Target="/ppt/slides/slide16.xml" Id="Re1925fb87e6b4f2a" /><Relationship Type="http://schemas.openxmlformats.org/officeDocument/2006/relationships/slide" Target="/ppt/slides/slide17.xml" Id="R5a5440c99d064c3c" /><Relationship Type="http://schemas.openxmlformats.org/officeDocument/2006/relationships/slide" Target="/ppt/slides/slide18.xml" Id="R110fdb694e194092" /><Relationship Type="http://schemas.openxmlformats.org/officeDocument/2006/relationships/slide" Target="/ppt/slides/slide19.xml" Id="R895d4980efee40c8" /><Relationship Type="http://schemas.openxmlformats.org/officeDocument/2006/relationships/slide" Target="/ppt/slides/slide20.xml" Id="R574f6c2cd36a4233" /><Relationship Type="http://schemas.openxmlformats.org/officeDocument/2006/relationships/slide" Target="/ppt/slides/slide21.xml" Id="Ra136865ab03240d8" /><Relationship Type="http://schemas.openxmlformats.org/officeDocument/2006/relationships/slide" Target="/ppt/slides/slide22.xml" Id="R0663800f33a44d24" /><Relationship Type="http://schemas.openxmlformats.org/officeDocument/2006/relationships/slide" Target="/ppt/slides/slide23.xml" Id="Reabf060ac6fd4afe" /><Relationship Type="http://schemas.openxmlformats.org/officeDocument/2006/relationships/slide" Target="/ppt/slides/slide24.xml" Id="Rc413bcda18f0404e" /><Relationship Type="http://schemas.openxmlformats.org/officeDocument/2006/relationships/slide" Target="/ppt/slides/slide25.xml" Id="R3097a54d86a14335" /><Relationship Type="http://schemas.openxmlformats.org/officeDocument/2006/relationships/slide" Target="/ppt/slides/slide26.xml" Id="Rf6b4f10314df4b8e" /><Relationship Type="http://schemas.openxmlformats.org/officeDocument/2006/relationships/slide" Target="/ppt/slides/slide27.xml" Id="R2c141fb0bf1a4676" /><Relationship Type="http://schemas.openxmlformats.org/officeDocument/2006/relationships/slide" Target="/ppt/slides/slide28.xml" Id="R23f14f8fec504664" /><Relationship Type="http://schemas.openxmlformats.org/officeDocument/2006/relationships/slide" Target="/ppt/slides/slide29.xml" Id="Rd6a2f9822e5e493b" /><Relationship Type="http://schemas.openxmlformats.org/officeDocument/2006/relationships/slide" Target="/ppt/slides/slide30.xml" Id="R73c088938bcc4c23" /><Relationship Type="http://schemas.openxmlformats.org/officeDocument/2006/relationships/slide" Target="/ppt/slides/slide31.xml" Id="R068a8c3d815242fb" /><Relationship Type="http://schemas.openxmlformats.org/officeDocument/2006/relationships/slide" Target="/ppt/slides/slide32.xml" Id="R818059a4c3cd4c2b" /><Relationship Type="http://schemas.openxmlformats.org/officeDocument/2006/relationships/slide" Target="/ppt/slides/slide33.xml" Id="Ra84993f0207a4e22" /><Relationship Type="http://schemas.openxmlformats.org/officeDocument/2006/relationships/slide" Target="/ppt/slides/slide34.xml" Id="R8d08f106c6054e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f0d7115f1940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b66bbb9d974825" /><Relationship Type="http://schemas.openxmlformats.org/officeDocument/2006/relationships/notesMaster" Target="/ppt/notesMasters/notesMaster1.xml" Id="Rf670005fa47d45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6f67922edf4c3e" /><Relationship Type="http://schemas.openxmlformats.org/officeDocument/2006/relationships/notesMaster" Target="/ppt/notesMasters/notesMaster1.xml" Id="R0250e8b2be4540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4e9826d9bd4054" /><Relationship Type="http://schemas.openxmlformats.org/officeDocument/2006/relationships/notesMaster" Target="/ppt/notesMasters/notesMaster1.xml" Id="Ra85b98ac549141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53e898abf541c9" /><Relationship Type="http://schemas.openxmlformats.org/officeDocument/2006/relationships/notesMaster" Target="/ppt/notesMasters/notesMaster1.xml" Id="R790b051fe2324f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15d3c1d12c49ba" /><Relationship Type="http://schemas.openxmlformats.org/officeDocument/2006/relationships/notesMaster" Target="/ppt/notesMasters/notesMaster1.xml" Id="Rca3b91861dbd4f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40856b4e954104" /><Relationship Type="http://schemas.openxmlformats.org/officeDocument/2006/relationships/notesMaster" Target="/ppt/notesMasters/notesMaster1.xml" Id="R726dd8de99ef4f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45daa0bc5e4937" /><Relationship Type="http://schemas.openxmlformats.org/officeDocument/2006/relationships/notesMaster" Target="/ppt/notesMasters/notesMaster1.xml" Id="Raec17bdbd25841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9d922a69ed49d9" /><Relationship Type="http://schemas.openxmlformats.org/officeDocument/2006/relationships/notesMaster" Target="/ppt/notesMasters/notesMaster1.xml" Id="R3f095679a2e442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6cbb011bf44530" /><Relationship Type="http://schemas.openxmlformats.org/officeDocument/2006/relationships/notesMaster" Target="/ppt/notesMasters/notesMaster1.xml" Id="R82fc1aad4dea41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ab1d00e9294db2" /><Relationship Type="http://schemas.openxmlformats.org/officeDocument/2006/relationships/notesMaster" Target="/ppt/notesMasters/notesMaster1.xml" Id="Rf49ed83846524ac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ad317d12fb4274" /><Relationship Type="http://schemas.openxmlformats.org/officeDocument/2006/relationships/notesMaster" Target="/ppt/notesMasters/notesMaster1.xml" Id="Rb669cf261d3f4b2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e9e8e0f6084b78" /><Relationship Type="http://schemas.openxmlformats.org/officeDocument/2006/relationships/notesMaster" Target="/ppt/notesMasters/notesMaster1.xml" Id="Rd5c19b572efb473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0c3e253d9b44d4" /><Relationship Type="http://schemas.openxmlformats.org/officeDocument/2006/relationships/notesMaster" Target="/ppt/notesMasters/notesMaster1.xml" Id="R296d77d78ed44d9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dd4153a431b49b0" /><Relationship Type="http://schemas.openxmlformats.org/officeDocument/2006/relationships/notesMaster" Target="/ppt/notesMasters/notesMaster1.xml" Id="R631fefd06d6740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3a2adc38eb640a1" /><Relationship Type="http://schemas.openxmlformats.org/officeDocument/2006/relationships/notesMaster" Target="/ppt/notesMasters/notesMaster1.xml" Id="Rf0fcb5598bd8472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ce576cb42374422" /><Relationship Type="http://schemas.openxmlformats.org/officeDocument/2006/relationships/notesMaster" Target="/ppt/notesMasters/notesMaster1.xml" Id="R1447f32c31b242b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6aa9fd347474f95" /><Relationship Type="http://schemas.openxmlformats.org/officeDocument/2006/relationships/notesMaster" Target="/ppt/notesMasters/notesMaster1.xml" Id="Ra2f2c91681c14d6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31cfae68e8d468c" /><Relationship Type="http://schemas.openxmlformats.org/officeDocument/2006/relationships/notesMaster" Target="/ppt/notesMasters/notesMaster1.xml" Id="R80d2d1fd07344e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9f20a6d526142da" /><Relationship Type="http://schemas.openxmlformats.org/officeDocument/2006/relationships/notesMaster" Target="/ppt/notesMasters/notesMaster1.xml" Id="R1fb5fc80f3c0454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120ce1e481b4d72" /><Relationship Type="http://schemas.openxmlformats.org/officeDocument/2006/relationships/notesMaster" Target="/ppt/notesMasters/notesMaster1.xml" Id="R91e699f7b8c841a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7af22b81dce40a6" /><Relationship Type="http://schemas.openxmlformats.org/officeDocument/2006/relationships/notesMaster" Target="/ppt/notesMasters/notesMaster1.xml" Id="R8753a4debd64431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9f1cd604d7049f6" /><Relationship Type="http://schemas.openxmlformats.org/officeDocument/2006/relationships/notesMaster" Target="/ppt/notesMasters/notesMaster1.xml" Id="R40ce13cdd021478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6a82d0bfbaa443e" /><Relationship Type="http://schemas.openxmlformats.org/officeDocument/2006/relationships/notesMaster" Target="/ppt/notesMasters/notesMaster1.xml" Id="Rc3cc9891b6074a9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59126791af640b2" /><Relationship Type="http://schemas.openxmlformats.org/officeDocument/2006/relationships/notesMaster" Target="/ppt/notesMasters/notesMaster1.xml" Id="Rc985f658939342e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afd8cabfbf34a80" /><Relationship Type="http://schemas.openxmlformats.org/officeDocument/2006/relationships/notesMaster" Target="/ppt/notesMasters/notesMaster1.xml" Id="R57d5cbc364014e7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7b4c21d8afd43e6" /><Relationship Type="http://schemas.openxmlformats.org/officeDocument/2006/relationships/notesMaster" Target="/ppt/notesMasters/notesMaster1.xml" Id="R1a126690cfc249e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5f3fd909639415b" /><Relationship Type="http://schemas.openxmlformats.org/officeDocument/2006/relationships/notesMaster" Target="/ppt/notesMasters/notesMaster1.xml" Id="Rd8271167533f418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d20c4402dd94e58" /><Relationship Type="http://schemas.openxmlformats.org/officeDocument/2006/relationships/notesMaster" Target="/ppt/notesMasters/notesMaster1.xml" Id="R7c6af889131349e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44ef81456c04b87" /><Relationship Type="http://schemas.openxmlformats.org/officeDocument/2006/relationships/notesMaster" Target="/ppt/notesMasters/notesMaster1.xml" Id="R0863eb5ce50d448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fbb04940d614302" /><Relationship Type="http://schemas.openxmlformats.org/officeDocument/2006/relationships/notesMaster" Target="/ppt/notesMasters/notesMaster1.xml" Id="R47d3f80e9e60487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e2491d9ee3844dd" /><Relationship Type="http://schemas.openxmlformats.org/officeDocument/2006/relationships/notesMaster" Target="/ppt/notesMasters/notesMaster1.xml" Id="Raa5f7790ebf5488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1c4379063694968" /><Relationship Type="http://schemas.openxmlformats.org/officeDocument/2006/relationships/notesMaster" Target="/ppt/notesMasters/notesMaster1.xml" Id="R1741dd6ec5de42f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d5ff07e31834e2a" /><Relationship Type="http://schemas.openxmlformats.org/officeDocument/2006/relationships/notesMaster" Target="/ppt/notesMasters/notesMaster1.xml" Id="Rd42f5c61d403468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1e4f5c30cc84179" /><Relationship Type="http://schemas.openxmlformats.org/officeDocument/2006/relationships/notesMaster" Target="/ppt/notesMasters/notesMaster1.xml" Id="Rb66ab77f6a2f41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Professor Sneaker</a:t>
            </a:r>
          </a:p>
          <a:p xmlns:a="http://schemas.openxmlformats.org/drawingml/2006/main">
            <a:r>
              <a:t>DEMONSTRATE: Open the Monday lesson before students arrive. Explain that we are continuing the existing Day 14 assignment, not adding an exam, points, or a due date. Students need GitHub credentials, Word access and one existing sanitized CIT-205 artifact. Do not ask students to share credentials.</a:t>
            </a:r>
          </a:p>
          <a:p xmlns:a="http://schemas.openxmlformats.org/drawingml/2006/main">
            <a:r>
              <a:t>STUDENT ACTION: LEARN → PRACTICE → OPERATE → QUALIFY; Professor Sneaker | Monday, October 12, 2026; Today: publish your own evidence, then prove it works.</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No application screenshot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Professor Sneaker</a:t>
            </a:r>
          </a:p>
          <a:p xmlns:a="http://schemas.openxmlformats.org/drawingml/2006/main">
            <a:r>
              <a:t>DEMONSTRATE: Ask: which candidate would you trust, a skill list or a documented repair? Model a résumé statement tied to a validation artifact. Students choose one real course artifact they authored. Never imply a fictional sample is their own work.</a:t>
            </a:r>
          </a:p>
          <a:p xmlns:a="http://schemas.openxmlformats.org/drawingml/2006/main">
            <a:r>
              <a:t>STUDENT ACTION: Claim: “I can troubleshoot.”; Evidence: symptom → safe test → result → validation.; Explain your contribution, not just the team’s output.; An employer can inspect the actual work.</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No application screenshot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Professor Sneaker</a:t>
            </a:r>
          </a:p>
          <a:p xmlns:a="http://schemas.openxmlformats.org/drawingml/2006/main">
            <a:r>
              <a:t>DEMONSTRATE: Connect existing workstation, server, tickets and Knowledge Base assignments to this evidence container. Keep the canonical progression and current 1,000-point course structure. Ownership stays in the student’s personal account; later networking, server and security work can extend it.</a:t>
            </a:r>
          </a:p>
          <a:p xmlns:a="http://schemas.openxmlformats.org/drawingml/2006/main">
            <a:r>
              <a:t>STUDENT ACTION: LEARN: explain the method and vocabulary.; PRACTICE: produce a reviewed artifact.; OPERATE: apply it within authorized scope.; QUALIFY: demonstrate a verified result.; The portfolio holds semester evidence; it is not a final exam.</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No application screenshot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Professor Sneaker</a:t>
            </a:r>
          </a:p>
          <a:p xmlns:a="http://schemas.openxmlformats.org/drawingml/2006/main">
            <a:r>
              <a:t>DEMONSTRATE: Click this link, not a GitHub blob view. Point out identity, navigation and artifact groups. Have students open the live URL in a new tab. Explain that the example has 13 individual artifact pages and 13 PDFs; tomorrow’s starter submission needs at least one real, safe PDF, not 13 fabricated documents.</a:t>
            </a:r>
          </a:p>
          <a:p xmlns:a="http://schemas.openxmlformats.org/drawingml/2006/main">
            <a:r>
              <a:t>STUDENT ACTION: Fictional instructional model, not a real student.; Homepage → artifact page → complete PDF.; Read context, action, evidence and reflection.</a:t>
            </a:r>
          </a:p>
          <a:p xmlns:a="http://schemas.openxmlformats.org/drawingml/2006/main">
            <a:r>
              <a:t>CHECKPOINT: Confirm the student can reproduce this step before proceeding.</a:t>
            </a:r>
          </a:p>
          <a:p xmlns:a="http://schemas.openxmlformats.org/drawingml/2006/main">
            <a:r>
              <a:t>RESOURCE: https://student-operated-technology-ecosystem.github.io/CIT-205-classroom/examples/exemplary-portfolio/</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Professor Sneaker</a:t>
            </a:r>
          </a:p>
          <a:p xmlns:a="http://schemas.openxmlformats.org/drawingml/2006/main">
            <a:r>
              <a:t>DEMONSTRATE: Open the workstation page, then its full PDF. Inspect title, metadata, inspection table, expected and actual observations and final disposition. Next open server-validation.html and its PDF. Ask students to distinguish validation from repair authorization. Both use fictional/sanitized lab context.</a:t>
            </a:r>
          </a:p>
          <a:p xmlns:a="http://schemas.openxmlformats.org/drawingml/2006/main">
            <a:r>
              <a:t>STUDENT ACTION: Workstation Validation: expected versus observed.; Server Validation: pass, hold or escalate.; Evidence never grants permission to repair.</a:t>
            </a:r>
          </a:p>
          <a:p xmlns:a="http://schemas.openxmlformats.org/drawingml/2006/main">
            <a:r>
              <a:t>CHECKPOINT: Confirm the student can reproduce this step before proceeding.</a:t>
            </a:r>
          </a:p>
          <a:p xmlns:a="http://schemas.openxmlformats.org/drawingml/2006/main">
            <a:r>
              <a:t>RESOURCE: https://student-operated-technology-ecosystem.github.io/CIT-205-classroom/examples/exemplary-portfolio/artifacts/workstation-validation.html</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Professor Sneaker</a:t>
            </a:r>
          </a:p>
          <a:p xmlns:a="http://schemas.openxmlformats.org/drawingml/2006/main">
            <a:r>
              <a:t>DEMONSTRATE: Open phone-support-ticket.html, scroll through evidence and use Open full PDF. Compare email-support-ticket.html. Ask where the customer symptoms, timeline, actions, safe escalation and closure are documented. Students should redact real names, contact details and private ticket identifiers.</a:t>
            </a:r>
          </a:p>
          <a:p xmlns:a="http://schemas.openxmlformats.org/drawingml/2006/main">
            <a:r>
              <a:t>STUDENT ACTION: Phone Support Ticket: clarify, record, validate.; Email Support Ticket: readable written handoff.; A closed ticket needs a confirmed outcome.</a:t>
            </a:r>
          </a:p>
          <a:p xmlns:a="http://schemas.openxmlformats.org/drawingml/2006/main">
            <a:r>
              <a:t>CHECKPOINT: Confirm the student can reproduce this step before proceeding.</a:t>
            </a:r>
          </a:p>
          <a:p xmlns:a="http://schemas.openxmlformats.org/drawingml/2006/main">
            <a:r>
              <a:t>RESOURCE: https://student-operated-technology-ecosystem.github.io/CIT-205-classroom/examples/exemplary-portfolio/artifacts/phone-support-ticket.html</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Professor Sneaker</a:t>
            </a:r>
          </a:p>
          <a:p xmlns:a="http://schemas.openxmlformats.org/drawingml/2006/main">
            <a:r>
              <a:t>DEMONSTRATE: Open the KB artifact and full PDF. Ask how a new technician would reproduce the procedure. Next open troubleshooting-decision-tree.html and its PDF. Explain that a decision tree records reasoning rather than random fixes; identify validation and escalation branches.</a:t>
            </a:r>
          </a:p>
          <a:p xmlns:a="http://schemas.openxmlformats.org/drawingml/2006/main">
            <a:r>
              <a:t>STUDENT ACTION: Knowledge Base Article: reusable procedure.; ACE Decision Tree: defensible troubleshooting.; State prerequisites, safety and stop conditions.</a:t>
            </a:r>
          </a:p>
          <a:p xmlns:a="http://schemas.openxmlformats.org/drawingml/2006/main">
            <a:r>
              <a:t>CHECKPOINT: Confirm the student can reproduce this step before proceeding.</a:t>
            </a:r>
          </a:p>
          <a:p xmlns:a="http://schemas.openxmlformats.org/drawingml/2006/main">
            <a:r>
              <a:t>RESOURCE: https://student-operated-technology-ecosystem.github.io/CIT-205-classroom/examples/exemplary-portfolio/artifacts/knowledge-base-article.html</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Professor Sneaker</a:t>
            </a:r>
          </a:p>
          <a:p xmlns:a="http://schemas.openxmlformats.org/drawingml/2006/main">
            <a:r>
              <a:t>DEMONSTRATE: Live demo three individual pages and their PDFs: mission-proposal.html, ticket-and-knowledge-review.html, documentation-vocabulary.html. Review proposal scope and authorization, reviewer findings and vocabulary distinctions. Students explain how a reviewer could reproduce a result, not simply award a polished appearance.</a:t>
            </a:r>
          </a:p>
          <a:p xmlns:a="http://schemas.openxmlformats.org/drawingml/2006/main">
            <a:r>
              <a:t>STUDENT ACTION: Mission Proposal: need, scope, evidence, constraints.; Ticket &amp; Knowledge Review: improve the record.; Documentation Vocabulary: use terms accurately.</a:t>
            </a:r>
          </a:p>
          <a:p xmlns:a="http://schemas.openxmlformats.org/drawingml/2006/main">
            <a:r>
              <a:t>CHECKPOINT: Confirm the student can reproduce this step before proceeding.</a:t>
            </a:r>
          </a:p>
          <a:p xmlns:a="http://schemas.openxmlformats.org/drawingml/2006/main">
            <a:r>
              <a:t>RESOURCE: https://student-operated-technology-ecosystem.github.io/CIT-205-classroom/examples/exemplary-portfolio/artifacts/mission-proposal.html</a:t>
            </a:r>
          </a:p>
          <a:p xmlns:a="http://schemas.openxmlformats.org/drawingml/2006/main">
            <a:r>
              <a:t>SCREENSHOT: No application screenshot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Professor Sneaker</a:t>
            </a:r>
          </a:p>
          <a:p xmlns:a="http://schemas.openxmlformats.org/drawingml/2006/main">
            <a:r>
              <a:t>DEMONSTRATE: Open github-evidence.html, resume.html, linkedin-evidence.html and portfolio-reflection.html; use each PDF link. Alex’s LinkedIn evidence is a fictional document, not a real person’s profile. Discuss meaningful commits, concise résumé claims, appropriate public identity and reflection. These existing course requirements keep their own timing; do not add new deadlines today.</a:t>
            </a:r>
          </a:p>
          <a:p xmlns:a="http://schemas.openxmlformats.org/drawingml/2006/main">
            <a:r>
              <a:t>STUDENT ACTION: GitHub Evidence: changes and review history.; Resume: achievements supported by artifacts.; LinkedIn evidence: professional presentation.; Professional Reflection: limits and next steps.</a:t>
            </a:r>
          </a:p>
          <a:p xmlns:a="http://schemas.openxmlformats.org/drawingml/2006/main">
            <a:r>
              <a:t>CHECKPOINT: Confirm the student can reproduce this step before proceeding.</a:t>
            </a:r>
          </a:p>
          <a:p xmlns:a="http://schemas.openxmlformats.org/drawingml/2006/main">
            <a:r>
              <a:t>RESOURCE: https://student-operated-technology-ecosystem.github.io/CIT-205-classroom/examples/exemplary-portfolio/artifacts/github-evidence.html</a:t>
            </a:r>
          </a:p>
          <a:p xmlns:a="http://schemas.openxmlformats.org/drawingml/2006/main">
            <a:r>
              <a:t>SCREENSHOT: No application screenshot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Professor Sneaker</a:t>
            </a:r>
          </a:p>
          <a:p xmlns:a="http://schemas.openxmlformats.org/drawingml/2006/main">
            <a:r>
              <a:t>DEMONSTRATE: Return to the KB PDF and point to each feature. Ask students to find a missing expected outcome in their own draft. Explain that Word is the editable source; PDF is stable public evidence. Professional means usable and accurate, not merely decorative.</a:t>
            </a:r>
          </a:p>
          <a:p xmlns:a="http://schemas.openxmlformats.org/drawingml/2006/main">
            <a:r>
              <a:t>STUDENT ACTION: Clear title + author/date/version.; Problem and scope before the procedure.; Tables compare expected and actual outcomes.; Evidence + validation + review + reflection.; Consistent headings and readable page breaks.</a:t>
            </a:r>
          </a:p>
          <a:p xmlns:a="http://schemas.openxmlformats.org/drawingml/2006/main">
            <a:r>
              <a:t>CHECKPOINT: Confirm the student can reproduce this step before proceeding.</a:t>
            </a:r>
          </a:p>
          <a:p xmlns:a="http://schemas.openxmlformats.org/drawingml/2006/main">
            <a:r>
              <a:t>RESOURCE: https://student-operated-technology-ecosystem.github.io/CIT-205-classroom/examples/exemplary-portfolio/artifacts/knowledge-base-article.html</a:t>
            </a:r>
          </a:p>
          <a:p xmlns:a="http://schemas.openxmlformats.org/drawingml/2006/main">
            <a:r>
              <a:t>SCREENSHOT: No application screenshot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Professor Sneaker</a:t>
            </a:r>
          </a:p>
          <a:p xmlns:a="http://schemas.openxmlformats.org/drawingml/2006/main">
            <a:r>
              <a:t>DEMONSTRATE: This is a real Word for the web capture of the existing CIT-205 sample Knowledge Base Article. Do not claim it is desktop Word. Demonstrate Word from Microsoft 365 and open the student’s existing draft, not a blank invention. Preserve any shared original via Save a copy. Instructor sample: Wired Windows Workstation Has No Network Connection. Desktop ribbon/export labels may differ.</a:t>
            </a:r>
          </a:p>
          <a:p xmlns:a="http://schemas.openxmlformats.org/drawingml/2006/main">
            <a:r>
              <a:t>STUDENT ACTION: Sign in to Microsoft 365 → Word.; Open your CIT-205 Knowledge Article draft/template.; Save a personal copy before changing a shared template.; Keep the editable .docx in a known course folder.</a:t>
            </a:r>
          </a:p>
          <a:p xmlns:a="http://schemas.openxmlformats.org/drawingml/2006/main">
            <a:r>
              <a:t>CHECKPOINT: Confirm the student can reproduce this step before proceeding.</a:t>
            </a:r>
          </a:p>
          <a:p xmlns:a="http://schemas.openxmlformats.org/drawingml/2006/main">
            <a:r>
              <a:t>RESOURCE: https://word.cloud.microsoft/</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Professor Sneaker</a:t>
            </a:r>
          </a:p>
          <a:p xmlns:a="http://schemas.openxmlformats.org/drawingml/2006/main">
            <a:r>
              <a:t>DEMONSTRATE: Students replace sample metadata with truthful details. Use a fictional or approved lab machine. Explain applies-to scope, purpose, symptoms, access requirements and safety precautions. Stop if the issue requires production changes or elevated authority; do not publish infrastructure details. Put no real passwords or private addresses in the demonstration.</a:t>
            </a:r>
          </a:p>
          <a:p xmlns:a="http://schemas.openxmlformats.org/drawingml/2006/main">
            <a:r>
              <a:t>STUDENT ACTION: Title: Wired Windows Workstation Has No Network Connection.; Author • date • version • lab environment.; Purpose: restore approved wired connectivity.; Symptoms: link/network access unavailable.; Prerequisites + safety: approved lab; no credentials.</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 Professor Sneaker</a:t>
            </a:r>
          </a:p>
          <a:p xmlns:a="http://schemas.openxmlformats.org/drawingml/2006/main">
            <a:r>
              <a:t>DEMONSTRATE: The screenshot is the real current Word Styles menu. Demonstrate selecting Purpose then Heading 1, and a subsection then Heading 2 in a personal copy. Show how headings support navigation and accessibility. Students apply styles to purpose, symptoms, procedure, validation and escalation, then save.</a:t>
            </a:r>
          </a:p>
          <a:p xmlns:a="http://schemas.openxmlformats.org/drawingml/2006/main">
            <a:r>
              <a:t>STUDENT ACTION: Select a section title → Home → Styles.; Choose Heading 1 for major sections.; Use Heading 2 for subsections.; Do not simulate headings with bold text alone.</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 Professor Sneaker</a:t>
            </a:r>
          </a:p>
          <a:p xmlns:a="http://schemas.openxmlformats.org/drawingml/2006/main">
            <a:r>
              <a:t>DEMONSTRATE: Demonstrate the actual numbered-list control in Word. Use an existing approved lab procedure rather than changing production settings. Each step should specify the action and what to observe. Avoid vague “fix the network” instructions and blind resets. Have a partner read the procedure without verbal clarification.</a:t>
            </a:r>
          </a:p>
          <a:p xmlns:a="http://schemas.openxmlformats.org/drawingml/2006/main">
            <a:r>
              <a:t>STUDENT ACTION: Home → Numbering: one action per step.; 1. Confirm the approved cable and port.; 2. Inspect link indicators and network status.; 3. Test an approved lab destination.; 4. Record results; stop/escalate at the boundary.</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No application screenshot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 Professor Sneaker</a:t>
            </a:r>
          </a:p>
          <a:p xmlns:a="http://schemas.openxmlformats.org/drawingml/2006/main">
            <a:r>
              <a:t>DEMONSTRATE: In a personal Word copy, insert a simple four-column table. Add header labels and use plain text values. Mark a table header row where supported, avoid merged cells and allow readable wrapping. Record actual observations honestly. Use fictional sample values only when labeled. Explain that expected results must be defined before declaring success.</a:t>
            </a:r>
          </a:p>
          <a:p xmlns:a="http://schemas.openxmlformats.org/drawingml/2006/main">
            <a:r>
              <a:t>STUDENT ACTION: Insert → Table: Test | Expected | Actual | Decision.; Link light | On | Record observation | Pass/Hold.; Approved test | Reachable | Record result | Validate.; Do not write “works” without the evidence.</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No application screenshot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 Professor Sneaker</a:t>
            </a:r>
          </a:p>
          <a:p xmlns:a="http://schemas.openxmlformats.org/drawingml/2006/main">
            <a:r>
              <a:t>DEMONSTRATE: Demonstrate review tools in the available Word application; labels can vary. Verify headings, table headers, alt text and readable contrast. Remove comments and tracked changes from the public version where appropriate. Word for the web autosaves; confirm the saved indicator and download/save the editable .docx if needed. Never export first and assume the article is complete.</a:t>
            </a:r>
          </a:p>
          <a:p xmlns:a="http://schemas.openxmlformats.org/drawingml/2006/main">
            <a:r>
              <a:t>STUDENT ACTION: Retest the original symptom; record the outcome.; Escalate when unsafe, unauthorized or unresolved.; Review → Editor; check spelling and clarity.; Review → Check Accessibility; fix findings.; Save the editable Word source before export.</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No application screenshot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 Professor Sneaker</a:t>
            </a:r>
          </a:p>
          <a:p xmlns:a="http://schemas.openxmlformats.org/drawingml/2006/main">
            <a:r>
              <a:t>DEMONSTRATE: This screenshot is the actual current Word for the web File → Export menu. Open the completed article, choose Download as PDF, wait for the ready prompt, then Download. The PDF may go to browser Downloads; move/rename it professionally in the known course folder. Do not claim a desktop Save As screenshot is shown. Word remains the authoring source.</a:t>
            </a:r>
          </a:p>
          <a:p xmlns:a="http://schemas.openxmlformats.org/drawingml/2006/main">
            <a:r>
              <a:t>STUDENT ACTION: Word for the web: File → Export → Download as PDF.; Desktop Word: File → Save As/Export → PDF.; Name it knowledge-base-article.pdf.; Save to your known CIT-205 portfolio folder.</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 Professor Sneaker</a:t>
            </a:r>
          </a:p>
          <a:p xmlns:a="http://schemas.openxmlformats.org/drawingml/2006/main">
            <a:r>
              <a:t>DEMONSTRATE: The real Word export produced a PDF during preparation. Demonstrate opening it in the PDF viewer. Zoom to normal reading size, check all pages and table boundaries. Redaction must remove the content, not just cover it with a shape. Never upload a private ticket, password, token, student record or sensitive screenshot. Retain .docx privately and publish only reviewed PDF evidence.</a:t>
            </a:r>
          </a:p>
          <a:p xmlns:a="http://schemas.openxmlformats.org/drawingml/2006/main">
            <a:r>
              <a:t>STUDENT ACTION: Download complete → open the saved PDF.; Check every page, table and page break.; Confirm selectable, readable text and no comments.; Inspect for sensitive information inside the file.; Redact in Word, export again, then recheck.</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19 | Professor Sneaker</a:t>
            </a:r>
          </a:p>
          <a:p xmlns:a="http://schemas.openxmlformats.org/drawingml/2006/main">
            <a:r>
              <a:t>DEMONSTRATE: Show the real current template repository/menu. Students click Use this template and Create a new repository, or the direct link. The screenshot is not a mockup. A GitHub account owns the portfolio independently of the class. If students already have a username.github.io site, do not overwrite their unrelated work; review how to integrate the starter safely.</a:t>
            </a:r>
          </a:p>
          <a:p xmlns:a="http://schemas.openxmlformats.org/drawingml/2006/main">
            <a:r>
              <a:t>STUDENT ACTION: Sign in → open cit205-portfolio-template.; Use this template → Create a new repository.; Do not fork the classroom for this portfolio.; Already started? Preserve your existing repository.</a:t>
            </a:r>
          </a:p>
          <a:p xmlns:a="http://schemas.openxmlformats.org/drawingml/2006/main">
            <a:r>
              <a:t>CHECKPOINT: Confirm the student can reproduce this step before proceeding.</a:t>
            </a:r>
          </a:p>
          <a:p xmlns:a="http://schemas.openxmlformats.org/drawingml/2006/main">
            <a:r>
              <a:t>RESOURCE: https://github.com/student-operated-technology-ecosystem/cit205-portfolio-template/generate</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20 | Professor Sneaker</a:t>
            </a:r>
          </a:p>
          <a:p xmlns:a="http://schemas.openxmlformats.org/drawingml/2006/main">
            <a:r>
              <a:t>DEMONSTRATE: This real form capture shows the instructor account ProfRinsem and demonstration name ProfRinsem.github.io. Students must substitute their own exact account and username; never choose the SOTE organization. No demonstration repository was created during this screenshot capture. Explain that repository name and URL must agree, e.g. alexmorgan → alexmorgan.github.io.</a:t>
            </a:r>
          </a:p>
          <a:p xmlns:a="http://schemas.openxmlformats.org/drawingml/2006/main">
            <a:r>
              <a:t>STUDENT ACTION: Owner: YOUR personal account.; Name: USERNAME.github.io, exact GitHub username.; Visibility: Public. Leave all branches unchecked.; Create repository; starter files appear automatically.</a:t>
            </a:r>
          </a:p>
          <a:p xmlns:a="http://schemas.openxmlformats.org/drawingml/2006/main">
            <a:r>
              <a:t>CHECKPOINT: Confirm the student can reproduce this step before proceeding.</a:t>
            </a:r>
          </a:p>
          <a:p xmlns:a="http://schemas.openxmlformats.org/drawingml/2006/main">
            <a:r>
              <a:t>RESOURCE: https://github.com/student-operated-technology-ecosystem/cit205-portfolio-template/generate</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21 | Professor Sneaker</a:t>
            </a:r>
          </a:p>
          <a:p xmlns:a="http://schemas.openxmlformats.org/drawingml/2006/main">
            <a:r>
              <a:t>DEMONSTRATE: Show the actual repository root. The student starter uses direct PDF links in index.html, not Alex’s additional individual HTML artifact pages. Read artifacts/README.md for supported filenames. Do not teach students to invent a conflicting pages directory. Keep style.css and the root index.html intact unless there is a verified need.</a:t>
            </a:r>
          </a:p>
          <a:p xmlns:a="http://schemas.openxmlformats.org/drawingml/2006/main">
            <a:r>
              <a:t>STUDENT ACTION: index.html: identity, sections and artifact links.; style.css: existing responsive appearance.; artifacts/: PDFs and filename guide.; Do not rebuild or delete the starter structure.</a:t>
            </a:r>
          </a:p>
          <a:p xmlns:a="http://schemas.openxmlformats.org/drawingml/2006/main">
            <a:r>
              <a:t>CHECKPOINT: Confirm the student can reproduce this step before proceeding.</a:t>
            </a:r>
          </a:p>
          <a:p xmlns:a="http://schemas.openxmlformats.org/drawingml/2006/main">
            <a:r>
              <a:t>RESOURCE: https://github.com/student-operated-technology-ecosystem/cit205-portfolio-template</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22 | Professor Sneaker</a:t>
            </a:r>
          </a:p>
          <a:p xmlns:a="http://schemas.openxmlformats.org/drawingml/2006/main">
            <a:r>
              <a:t>DEMONSTRATE: In the student’s own repository, open index.html and use the pencil. Replace title/name and introduction, reflective content and placeholder GitHub/LinkedIn URLs. Do not publish a made-up résumé or generic LinkedIn profile as evidence. Demonstrate one small edit, not a full website rewrite. Keep valid HTML quotes and closing tags. The current starter is expanded into readable lines with EDIT YOUR NAME BELOW and EDIT YOUR INTRODUCTION BELOW comments. Use those comments or editor Find to locate the exact text. Keep all HTML tags intact.</a:t>
            </a:r>
          </a:p>
          <a:p xmlns:a="http://schemas.openxmlformats.org/drawingml/2006/main">
            <a:r>
              <a:t>STUDENT ACTION: Open index.html → pencil / Edit this file.; Replace YOUR NAME, intro and placeholder profile links.; Describe context, your action, evidence and result.; Keep incomplete PDF links hidden.</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23 | Professor Sneaker</a:t>
            </a:r>
          </a:p>
          <a:p xmlns:a="http://schemas.openxmlformats.org/drawingml/2006/main">
            <a:r>
              <a:t>DEMONSTRATE: Explain that typing in the editor does not publish an uncommitted draft. In the student repository, Commit changes opens a message form; use a meaningful message, keep main as the target and confirm. Reopen file/history to verify the saved change. Never commit demonstration edits to the organization template. Screenshot shows upload commit form; homepage edit uses the same meaningful-message/main principle. No template edits were committed.</a:t>
            </a:r>
          </a:p>
          <a:p xmlns:a="http://schemas.openxmlformats.org/drawingml/2006/main">
            <a:r>
              <a:t>STUDENT ACTION: Commit changes → describe what changed.; Example: Personalize portfolio introduction.; Commit directly to main for this personal site.; Confirm the commit and reopen the saved file.</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24 | Professor Sneaker</a:t>
            </a:r>
          </a:p>
          <a:p xmlns:a="http://schemas.openxmlformats.org/drawingml/2006/main">
            <a:r>
              <a:t>DEMONSTRATE: Show this click sequence live in a student-owned or authorized instructor demonstration repository. Do not upload private Word source by mistake. Confirm the upload is inside artifacts, not a second nested artifacts/artifacts directory. Student can use another approved artifact if it follows the existing filename guide. Confirm commit before linking.</a:t>
            </a:r>
          </a:p>
          <a:p xmlns:a="http://schemas.openxmlformats.org/drawingml/2006/main">
            <a:r>
              <a:t>STUDENT ACTION: Open artifacts/ → Add file → Upload files.; Select knowledge-base-article.pdf.; Verify the filename and location.; Commit: Add reviewed knowledge base PDF.</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25 | Professor Sneaker</a:t>
            </a:r>
          </a:p>
          <a:p xmlns:a="http://schemas.openxmlformats.org/drawingml/2006/main">
            <a:r>
              <a:t>DEMONSTRATE: The current starter intentionally hides unfinished PDF links. Merely uploading does not reveal the KB link: remove the hidden attribute on its matching anchor. Do not remove hidden globally. Paths are relative to root index.html, so artifacts/knowledge-base-article.pdf is correct. Existing LinkedIn and reflection structure differs from PDF examples; use only truthful completed evidence.</a:t>
            </a:r>
          </a:p>
          <a:p xmlns:a="http://schemas.openxmlformats.org/drawingml/2006/main">
            <a:r>
              <a:t>STUDENT ACTION: In index.html find Knowledge Base Article.; Remove hidden only after the PDF exists.; Keep href="artifacts/knowledge-base-article.pdf".; Commit: Link completed knowledge base evidence.; Test the live PDF after deployment.</a:t>
            </a:r>
          </a:p>
          <a:p xmlns:a="http://schemas.openxmlformats.org/drawingml/2006/main">
            <a:r>
              <a:t>CHECKPOINT: Confirm the student can reproduce this step before proceeding.</a:t>
            </a:r>
          </a:p>
          <a:p xmlns:a="http://schemas.openxmlformats.org/drawingml/2006/main">
            <a:r>
              <a:t>RESOURCE: https://github.com/student-operated-technology-ecosystem/cit205-portfolio-template/blob/main/artifacts/README.md</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26 | Professor Sneaker</a:t>
            </a:r>
          </a:p>
          <a:p xmlns:a="http://schemas.openxmlformats.org/drawingml/2006/main">
            <a:r>
              <a:t>DEMONSTRATE: Show a deliberately described mismatch without committing a broken file. Ask a partner to compare href to the repository filename character by character. A file in artifacts/ requires artifacts/ in the link. Avoid spaces because they invite copying/encoding errors. Check that Windows did not hide or double the extension.</a:t>
            </a:r>
          </a:p>
          <a:p xmlns:a="http://schemas.openxmlformats.org/drawingml/2006/main">
            <a:r>
              <a:t>STUDENT ACTION: knowledge-base-article.pdf ≠ Knowledge-Base-Article.PDF; Keep lowercase names and hyphens.; Match folder, spelling, capitalization and extension.; No local C:\Users path; no Downloads path.; A relative URL points inside the published site.</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No application screenshot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27 | Professor Sneaker</a:t>
            </a:r>
          </a:p>
          <a:p xmlns:a="http://schemas.openxmlformats.org/drawingml/2006/main">
            <a:r>
              <a:t>DEMONSTRATE: This real screenshot shows the classroom repository already live with the same branch settings; students configure THEIR personal repository, not the classroom. Save is disabled in this capture because settings are already saved. On the student site select source, main and root then Save. Pages may take several minutes. Do not press Unpublish or change the classroom settings.</a:t>
            </a:r>
          </a:p>
          <a:p xmlns:a="http://schemas.openxmlformats.org/drawingml/2006/main">
            <a:r>
              <a:t>STUDENT ACTION: Your repository → Settings → Pages.; Source: Deploy from a branch.; Branch: main. Folder: /(root).; Save; wait for successful deployment.</a:t>
            </a:r>
          </a:p>
          <a:p xmlns:a="http://schemas.openxmlformats.org/drawingml/2006/main">
            <a:r>
              <a:t>CHECKPOINT: Confirm the student can reproduce this step before proceeding.</a:t>
            </a:r>
          </a:p>
          <a:p xmlns:a="http://schemas.openxmlformats.org/drawingml/2006/main">
            <a:r>
              <a:t>RESOURCE: https://docs.github.com/en/pages/getting-started-with-github-pages/creating-a-github-pages-site</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28 | Professor Sneaker</a:t>
            </a:r>
          </a:p>
          <a:p xmlns:a="http://schemas.openxmlformats.org/drawingml/2006/main">
            <a:r>
              <a:t>DEMONSTRATE: Ask students to paste all three URLs into a private window or signed-out browser. The website should render professionally, not display the index.html source. The PDF should open/download a real readable file. Never submit a Settings page URL or local filesystem path. The Alex example uses a project subpath; student username sites use the domain root.</a:t>
            </a:r>
          </a:p>
          <a:p xmlns:a="http://schemas.openxmlformats.org/drawingml/2006/main">
            <a:r>
              <a:t>STUDENT ACTION: Repository: github.com/USERNAME/USERNAME.github.io; Website: https://USERNAME.github.io/; PDF: https://USERNAME.github.io/artifacts/knowledge-base-article.pdf; The live website is not GitHub’s HTML code view.</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No application screenshot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29 | Professor Sneaker</a:t>
            </a:r>
          </a:p>
          <a:p xmlns:a="http://schemas.openxmlformats.org/drawingml/2006/main">
            <a:r>
              <a:t>DEMONSTRATE: The classroom’s main/root Pages settings and latest successful workflow were verified on October 11. Demonstrate Actions or the Pages deployment link, check green success and current commit, then visit the website. Students’ future main commits republish with this configuration. If a build fails, read the failure before changing files randomly. Do not promise instantaneous publishing.</a:t>
            </a:r>
          </a:p>
          <a:p xmlns:a="http://schemas.openxmlformats.org/drawingml/2006/main">
            <a:r>
              <a:t>STUDENT ACTION: Commit to main → Pages builds → deployment succeeds.; Open the live URL after the successful run.; Refresh or use a private window for a stale page.; A queued/failed build is not a published change.</a:t>
            </a:r>
          </a:p>
          <a:p xmlns:a="http://schemas.openxmlformats.org/drawingml/2006/main">
            <a:r>
              <a:t>CHECKPOINT: Confirm the student can reproduce this step before proceeding.</a:t>
            </a:r>
          </a:p>
          <a:p xmlns:a="http://schemas.openxmlformats.org/drawingml/2006/main">
            <a:r>
              <a:t>RESOURCE: https://github.com/student-operated-technology-ecosystem/CIT-205-classroom/actions/runs/38149597827</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30 | Professor Sneaker</a:t>
            </a:r>
          </a:p>
          <a:p xmlns:a="http://schemas.openxmlformats.org/drawingml/2006/main">
            <a:r>
              <a:t>DEMONSTRATE: The screenshot shows verified desktop rendering; it is not a mobile capture. Instructor should perform a live phone test in class. Students verify their own actual mobile layout and artifact opening. Use another device or responsive browser tools when available. A repository inspection alone does not establish a functioning public website.</a:t>
            </a:r>
          </a:p>
          <a:p xmlns:a="http://schemas.openxmlformats.org/drawingml/2006/main">
            <a:r>
              <a:t>STUDENT ACTION: Open the live site on desktop and your phone.; Read the introduction; test navigation.; Open at least one real redacted PDF, signed out.; No horizontal scrolling, tiny text or overlapping links.; Ask a partner to reproduce the result.</a:t>
            </a:r>
          </a:p>
          <a:p xmlns:a="http://schemas.openxmlformats.org/drawingml/2006/main">
            <a:r>
              <a:t>CHECKPOINT: Confirm the student can reproduce this step before proceeding.</a:t>
            </a:r>
          </a:p>
          <a:p xmlns:a="http://schemas.openxmlformats.org/drawingml/2006/main">
            <a:r>
              <a:t>RESOURCE: https://student-operated-technology-ecosystem.github.io/CIT-205-classroom/examples/exemplary-portfolio/</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31 | Professor Sneaker</a:t>
            </a:r>
          </a:p>
          <a:p xmlns:a="http://schemas.openxmlformats.org/drawingml/2006/main">
            <a:r>
              <a:t>DEMONSTRATE: This is the existing 100-point assignment, no due date, not a newly created assessment. The current instructions supersede archived manual-copy/ZIP directions; old attachments remain preserved. Student text: Live website; Repository; PDF; I tested desktop/phone and signed-out access; here is my contribution/result/redaction. Show the student submission workflow live without creating an instructor attempt or altering submissions.</a:t>
            </a:r>
          </a:p>
          <a:p xmlns:a="http://schemas.openxmlformats.org/drawingml/2006/main">
            <a:r>
              <a:t>STUDENT ACTION: Open the existing DAY 14 portfolio publication assignment.; Submit live website URL + repository URL.; Include direct PDF URL + brief validation/reflection.; Confirm a real, redacted PDF opens successfully.; Use Submit; verify Blackboard’s confirmation.</a:t>
            </a:r>
          </a:p>
          <a:p xmlns:a="http://schemas.openxmlformats.org/drawingml/2006/main">
            <a:r>
              <a:t>CHECKPOINT: Confirm the student can reproduce this step before proceeding.</a:t>
            </a:r>
          </a:p>
          <a:p xmlns:a="http://schemas.openxmlformats.org/drawingml/2006/main">
            <a:r>
              <a:t>RESOURCE: https://courses.ccac.edu/ultra/courses/_227360_1/assessment/test/_21349174_1?gradeitemView=details</a:t>
            </a:r>
          </a:p>
          <a:p xmlns:a="http://schemas.openxmlformats.org/drawingml/2006/main">
            <a:r>
              <a:t>SCREENSHOT: Real browser/application capture on October 11, 2026;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32 | Professor Sneaker</a:t>
            </a:r>
          </a:p>
          <a:p xmlns:a="http://schemas.openxmlformats.org/drawingml/2006/main">
            <a:r>
              <a:t>DEMONSTRATE: Use qualification as diagnosis, not blame. For missing index.html ensure it is at root and lowercase. For uncommitted changes save the commit. For wrong folder match the relative href. For stale Pages check the deployment SHA and browser cache. If sensitive content was published, merely deleting a file may leave git history; stop sharing and ask the instructor to handle removal/credential rotation through approved processes.</a:t>
            </a:r>
          </a:p>
          <a:p xmlns:a="http://schemas.openxmlformats.org/drawingml/2006/main">
            <a:r>
              <a:t>STUDENT ACTION: Code view? Use the github.io URL.; 404 homepage? Check exact name + root index.html + Pages.; PDF 404? Check artifacts/, filename, case and commit.; Old version? Check successful deployment; refresh.; Sensitive content? Stop publication and notify instructor.</a:t>
            </a:r>
          </a:p>
          <a:p xmlns:a="http://schemas.openxmlformats.org/drawingml/2006/main">
            <a:r>
              <a:t>CHECKPOINT: Confirm the student can reproduce this step before proceeding.</a:t>
            </a:r>
          </a:p>
          <a:p xmlns:a="http://schemas.openxmlformats.org/drawingml/2006/main">
            <a:r>
              <a:t>RESOURCE: https://courses.ccac.edu/ultra/courses/_227360_1/document/_21358910_1?view=content</a:t>
            </a:r>
          </a:p>
          <a:p xmlns:a="http://schemas.openxmlformats.org/drawingml/2006/main">
            <a:r>
              <a:t>SCREENSHOT: No application screenshot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33 | Professor Sneaker</a:t>
            </a:r>
          </a:p>
          <a:p xmlns:a="http://schemas.openxmlformats.org/drawingml/2006/main">
            <a:r>
              <a:t>DEMONSTRATE: Have partners check each item, then students submit to the existing assignment and verify confirmation. Quality is safe, working evidence, not a finished-semester claim. If time runs short, use optional independent work on the same existing assignment; no new due date is introduced.</a:t>
            </a:r>
          </a:p>
          <a:p xmlns:a="http://schemas.openxmlformats.org/drawingml/2006/main">
            <a:r>
              <a:t>STUDENT ACTION: □ Personal public repository and truthful homepage.; □ Reviewed Word source saved privately.; □ Real redacted PDF opens from the live site.; □ Desktop + phone navigation tested.; □ Main/root Pages deployment successful.; □ Live URL + repo URL + PDF URL + reflection submitted.</a:t>
            </a:r>
          </a:p>
          <a:p xmlns:a="http://schemas.openxmlformats.org/drawingml/2006/main">
            <a:r>
              <a:t>CHECKPOINT: Confirm the student can reproduce this step before proceeding.</a:t>
            </a:r>
          </a:p>
          <a:p xmlns:a="http://schemas.openxmlformats.org/drawingml/2006/main">
            <a:r>
              <a:t>RESOURCE: https://courses.ccac.edu/ultra/courses/_227360_1/assessment/test/_21349174_1?gradeitemView=details</a:t>
            </a:r>
          </a:p>
          <a:p xmlns:a="http://schemas.openxmlformats.org/drawingml/2006/main">
            <a:r>
              <a:t>SCREENSHOT: No application screenshot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34 | Professor Sneaker</a:t>
            </a:r>
          </a:p>
          <a:p xmlns:a="http://schemas.openxmlformats.org/drawingml/2006/main">
            <a:r>
              <a:t>DEMONSTRATE: Close with ownership and continuity. Students keep their own repository after the course. Future artifacts improve evidence quality and résumé claims. The SOTE directory is voluntary with instructor review and consent; Blackboard submission is the course requirement. Direct students back to the Monday lesson for the guides and checklist.</a:t>
            </a:r>
          </a:p>
          <a:p xmlns:a="http://schemas.openxmlformats.org/drawingml/2006/main">
            <a:r>
              <a:t>STUDENT ACTION: Reuse the portfolio throughout CIT.; Add only completed, reviewed, authorized evidence.; Keep meaningful commits and revise after feedback.; The showcase is optional and separately reviewed.</a:t>
            </a:r>
          </a:p>
          <a:p xmlns:a="http://schemas.openxmlformats.org/drawingml/2006/main">
            <a:r>
              <a:t>CHECKPOINT: Confirm the student can reproduce this step before proceeding.</a:t>
            </a:r>
          </a:p>
          <a:p xmlns:a="http://schemas.openxmlformats.org/drawingml/2006/main">
            <a:r>
              <a:t>RESOURCE: https://professorsneaker.com/portfolios.html</a:t>
            </a:r>
          </a:p>
          <a:p xmlns:a="http://schemas.openxmlformats.org/drawingml/2006/main">
            <a:r>
              <a:t>SCREENSHOT: No application screenshot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094c94e8af42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9f3e20aa6543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19fbcab9f8461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a7033987e646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29870aaff1486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5fc3730192049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CD9E70-57A0-4F43-965E-0996820EC5E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0645B09-9E2C-4B73-92F2-891646DF1E6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25AD67-9C19-46FE-A41F-EA49468658A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2CD2C8-6225-411A-9AFA-C61124443C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3AD733-DE12-4A5A-AAE2-2CF51A7EB68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CB59B55-C124-44FB-8731-D04804CBB8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B3472F-295B-4377-83FB-46FF6776EB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584BE18-96DC-4ABE-A1A1-0C63B86D434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59E7D2-1EB8-4BFF-A475-C0EA4D3195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E557D9-23CC-4B6B-9103-669AE9616B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5aa3f50a844ccb" /><Relationship Type="http://schemas.openxmlformats.org/officeDocument/2006/relationships/slideLayout" Target="/ppt/slideLayouts/slideLayout1.xml" Id="R9cddb80120444d84" /><Relationship Type="http://schemas.openxmlformats.org/officeDocument/2006/relationships/slideLayout" Target="/ppt/slideLayouts/slideLayout2.xml" Id="Rf8f72f4a0bc547ab" /><Relationship Type="http://schemas.openxmlformats.org/officeDocument/2006/relationships/slideLayout" Target="/ppt/slideLayouts/slideLayout3.xml" Id="Rb36822631ecf446b" /><Relationship Type="http://schemas.openxmlformats.org/officeDocument/2006/relationships/slideLayout" Target="/ppt/slideLayouts/slideLayout4.xml" Id="Rdb4346a2c2bd48e9" /><Relationship Type="http://schemas.openxmlformats.org/officeDocument/2006/relationships/slideLayout" Target="/ppt/slideLayouts/slideLayout5.xml" Id="Rd5efa175e7324725" /><Relationship Type="http://schemas.openxmlformats.org/officeDocument/2006/relationships/slideLayout" Target="/ppt/slideLayouts/slideLayout6.xml" Id="Rc800ef1bf6a140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ddb80120444d84"/>
    <p:sldLayoutId xmlns:r="http://schemas.openxmlformats.org/officeDocument/2006/relationships" id="2147483650" r:id="Rf8f72f4a0bc547ab"/>
    <p:sldLayoutId xmlns:r="http://schemas.openxmlformats.org/officeDocument/2006/relationships" id="2147483651" r:id="Rb36822631ecf446b"/>
    <p:sldLayoutId xmlns:r="http://schemas.openxmlformats.org/officeDocument/2006/relationships" id="2147483652" r:id="Rdb4346a2c2bd48e9"/>
    <p:sldLayoutId xmlns:r="http://schemas.openxmlformats.org/officeDocument/2006/relationships" id="2147483653" r:id="Rd5efa175e7324725"/>
    <p:sldLayoutId xmlns:r="http://schemas.openxmlformats.org/officeDocument/2006/relationships" id="2147483654" r:id="Rc800ef1bf6a140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39090ed26e4ff0" /><Relationship Type="http://schemas.openxmlformats.org/officeDocument/2006/relationships/hyperlink" Target="https://courses.ccac.edu/ultra/courses/_227360_1/document/_21358910_1?view=content" TargetMode="External" Id="Rf9f01788591f4409" /><Relationship Type="http://schemas.openxmlformats.org/officeDocument/2006/relationships/notesSlide" Target="/ppt/notesSlides/notesSlide1.xml" Id="R30809527908041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43b6c1520734247" /><Relationship Type="http://schemas.openxmlformats.org/officeDocument/2006/relationships/notesSlide" Target="/ppt/notesSlides/notesSlide2.xml" Id="R1104d75b09fe40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87d76caa8de413d" /><Relationship Type="http://schemas.openxmlformats.org/officeDocument/2006/relationships/notesSlide" Target="/ppt/notesSlides/notesSlide3.xml" Id="Rf3bb8b5294c94a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b450f887c846b3" /><Relationship Type="http://schemas.openxmlformats.org/officeDocument/2006/relationships/image" Target="/ppt/media/image.jpeg" Id="R449f3084623b4c29" /><Relationship Type="http://schemas.openxmlformats.org/officeDocument/2006/relationships/hyperlink" Target="https://student-operated-technology-ecosystem.github.io/CIT-205-classroom/examples/exemplary-portfolio/" TargetMode="External" Id="R687a794729714fdc" /><Relationship Type="http://schemas.openxmlformats.org/officeDocument/2006/relationships/notesSlide" Target="/ppt/notesSlides/notesSlide4.xml" Id="Ra7136a7d9f3f44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a6b1b73ab8745f2" /><Relationship Type="http://schemas.openxmlformats.org/officeDocument/2006/relationships/image" Target="/ppt/media/image2.jpeg" Id="R26a14cf07bae4305" /><Relationship Type="http://schemas.openxmlformats.org/officeDocument/2006/relationships/hyperlink" Target="https://student-operated-technology-ecosystem.github.io/CIT-205-classroom/examples/exemplary-portfolio/artifacts/workstation-validation.html" TargetMode="External" Id="R04d41ad3ba8744c2" /><Relationship Type="http://schemas.openxmlformats.org/officeDocument/2006/relationships/notesSlide" Target="/ppt/notesSlides/notesSlide5.xml" Id="R61edd30a0f5843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21b1b46ed074c3a" /><Relationship Type="http://schemas.openxmlformats.org/officeDocument/2006/relationships/image" Target="/ppt/media/image3.jpeg" Id="Rcdfe7b43385c470e" /><Relationship Type="http://schemas.openxmlformats.org/officeDocument/2006/relationships/hyperlink" Target="https://student-operated-technology-ecosystem.github.io/CIT-205-classroom/examples/exemplary-portfolio/artifacts/phone-support-ticket.html" TargetMode="External" Id="R70fee46c8e094241" /><Relationship Type="http://schemas.openxmlformats.org/officeDocument/2006/relationships/notesSlide" Target="/ppt/notesSlides/notesSlide6.xml" Id="R3cb39c9e2be84a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24c6a11fb144446" /><Relationship Type="http://schemas.openxmlformats.org/officeDocument/2006/relationships/image" Target="/ppt/media/image4.jpeg" Id="Rf1bae94101d64e8e" /><Relationship Type="http://schemas.openxmlformats.org/officeDocument/2006/relationships/hyperlink" Target="https://student-operated-technology-ecosystem.github.io/CIT-205-classroom/examples/exemplary-portfolio/artifacts/knowledge-base-article.html" TargetMode="External" Id="R7e43f5e8d27643ab" /><Relationship Type="http://schemas.openxmlformats.org/officeDocument/2006/relationships/notesSlide" Target="/ppt/notesSlides/notesSlide7.xml" Id="R8d385019671d49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d1c6bc0f45a4fad" /><Relationship Type="http://schemas.openxmlformats.org/officeDocument/2006/relationships/hyperlink" Target="https://student-operated-technology-ecosystem.github.io/CIT-205-classroom/examples/exemplary-portfolio/artifacts/mission-proposal.html" TargetMode="External" Id="R0e02027e76fb4dc7" /><Relationship Type="http://schemas.openxmlformats.org/officeDocument/2006/relationships/notesSlide" Target="/ppt/notesSlides/notesSlide8.xml" Id="R48c0d9e9dd8e4b8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b386d894b324b8a" /><Relationship Type="http://schemas.openxmlformats.org/officeDocument/2006/relationships/hyperlink" Target="https://student-operated-technology-ecosystem.github.io/CIT-205-classroom/examples/exemplary-portfolio/artifacts/github-evidence.html" TargetMode="External" Id="R6b8442b199314e43" /><Relationship Type="http://schemas.openxmlformats.org/officeDocument/2006/relationships/notesSlide" Target="/ppt/notesSlides/notesSlide9.xml" Id="Rffc939755d7b47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0fa61fed7274c07" /><Relationship Type="http://schemas.openxmlformats.org/officeDocument/2006/relationships/hyperlink" Target="https://student-operated-technology-ecosystem.github.io/CIT-205-classroom/examples/exemplary-portfolio/artifacts/knowledge-base-article.html" TargetMode="External" Id="R0b6edea7538a4261" /><Relationship Type="http://schemas.openxmlformats.org/officeDocument/2006/relationships/notesSlide" Target="/ppt/notesSlides/notesSlide10.xml" Id="Rb392868d955f46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ae6662283604582" /><Relationship Type="http://schemas.openxmlformats.org/officeDocument/2006/relationships/image" Target="/ppt/media/image5.jpeg" Id="Rc9d30ad1f9814be5" /><Relationship Type="http://schemas.openxmlformats.org/officeDocument/2006/relationships/hyperlink" Target="https://word.cloud.microsoft/" TargetMode="External" Id="R73fba490f66b430f" /><Relationship Type="http://schemas.openxmlformats.org/officeDocument/2006/relationships/notesSlide" Target="/ppt/notesSlides/notesSlide11.xml" Id="R85eadd10531c46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36d1998e11849ba" /><Relationship Type="http://schemas.openxmlformats.org/officeDocument/2006/relationships/image" Target="/ppt/media/image6.jpeg" Id="R5a74f72af38643d7" /><Relationship Type="http://schemas.openxmlformats.org/officeDocument/2006/relationships/notesSlide" Target="/ppt/notesSlides/notesSlide12.xml" Id="R12f104a92daa48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7ac34720c1243de" /><Relationship Type="http://schemas.openxmlformats.org/officeDocument/2006/relationships/image" Target="/ppt/media/image7.jpeg" Id="R79c0e53f44e34139" /><Relationship Type="http://schemas.openxmlformats.org/officeDocument/2006/relationships/notesSlide" Target="/ppt/notesSlides/notesSlide13.xml" Id="R44afdbb7304241f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543679ad22c47da" /><Relationship Type="http://schemas.openxmlformats.org/officeDocument/2006/relationships/notesSlide" Target="/ppt/notesSlides/notesSlide14.xml" Id="R7cb0927fc7b94cc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3d2b2653a9c411c" /><Relationship Type="http://schemas.openxmlformats.org/officeDocument/2006/relationships/notesSlide" Target="/ppt/notesSlides/notesSlide15.xml" Id="Rfcd112f5d8b24ed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771be726aa84216" /><Relationship Type="http://schemas.openxmlformats.org/officeDocument/2006/relationships/notesSlide" Target="/ppt/notesSlides/notesSlide16.xml" Id="Ra72e25f0168f4e9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16c0bf5f8c14498" /><Relationship Type="http://schemas.openxmlformats.org/officeDocument/2006/relationships/image" Target="/ppt/media/image8.jpeg" Id="R8ed7427d9be64946" /><Relationship Type="http://schemas.openxmlformats.org/officeDocument/2006/relationships/notesSlide" Target="/ppt/notesSlides/notesSlide17.xml" Id="Rbcb46a4aa496455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a4946cf61054c90" /><Relationship Type="http://schemas.openxmlformats.org/officeDocument/2006/relationships/image" Target="/ppt/media/image9.jpeg" Id="R5ffb8a5e4f2b4d6f" /><Relationship Type="http://schemas.openxmlformats.org/officeDocument/2006/relationships/notesSlide" Target="/ppt/notesSlides/notesSlide18.xml" Id="R250f7fda2a9b475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21d9546adfe47aa" /><Relationship Type="http://schemas.openxmlformats.org/officeDocument/2006/relationships/image" Target="/ppt/media/image10.jpeg" Id="R3b5f04d32c73402d" /><Relationship Type="http://schemas.openxmlformats.org/officeDocument/2006/relationships/hyperlink" Target="https://github.com/student-operated-technology-ecosystem/cit205-portfolio-template/generate" TargetMode="External" Id="R143ec0cc2f0f4cce" /><Relationship Type="http://schemas.openxmlformats.org/officeDocument/2006/relationships/notesSlide" Target="/ppt/notesSlides/notesSlide19.xml" Id="Ra046fb05d530451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374e73d24784d07" /><Relationship Type="http://schemas.openxmlformats.org/officeDocument/2006/relationships/image" Target="/ppt/media/image11.jpeg" Id="Rebbc73ae8dbb4c88" /><Relationship Type="http://schemas.openxmlformats.org/officeDocument/2006/relationships/hyperlink" Target="https://github.com/student-operated-technology-ecosystem/cit205-portfolio-template/generate" TargetMode="External" Id="R80451e3c38d44f9e" /><Relationship Type="http://schemas.openxmlformats.org/officeDocument/2006/relationships/notesSlide" Target="/ppt/notesSlides/notesSlide20.xml" Id="R6d20f0958bd1469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504e9e1b51a4bce" /><Relationship Type="http://schemas.openxmlformats.org/officeDocument/2006/relationships/image" Target="/ppt/media/image12.jpeg" Id="R142db40c65314ffa" /><Relationship Type="http://schemas.openxmlformats.org/officeDocument/2006/relationships/hyperlink" Target="https://github.com/student-operated-technology-ecosystem/cit205-portfolio-template" TargetMode="External" Id="Rbfd7e0e9814b40ee" /><Relationship Type="http://schemas.openxmlformats.org/officeDocument/2006/relationships/notesSlide" Target="/ppt/notesSlides/notesSlide21.xml" Id="R1bbd6079e239454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193189971134232" /><Relationship Type="http://schemas.openxmlformats.org/officeDocument/2006/relationships/image" Target="/ppt/media/image13.jpeg" Id="Rb80808ed3839473b" /><Relationship Type="http://schemas.openxmlformats.org/officeDocument/2006/relationships/notesSlide" Target="/ppt/notesSlides/notesSlide22.xml" Id="R92fe824c543d4f5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731fca8d5bd4fab" /><Relationship Type="http://schemas.openxmlformats.org/officeDocument/2006/relationships/image" Target="/ppt/media/image14.jpeg" Id="Raaa069060ed74e13" /><Relationship Type="http://schemas.openxmlformats.org/officeDocument/2006/relationships/notesSlide" Target="/ppt/notesSlides/notesSlide23.xml" Id="Rd9eca07d4a034db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8355462833942a0" /><Relationship Type="http://schemas.openxmlformats.org/officeDocument/2006/relationships/image" Target="/ppt/media/image15.jpeg" Id="R8afffb8def3f4399" /><Relationship Type="http://schemas.openxmlformats.org/officeDocument/2006/relationships/notesSlide" Target="/ppt/notesSlides/notesSlide24.xml" Id="R7c89df47039f44f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1ff2e1304604b2d" /><Relationship Type="http://schemas.openxmlformats.org/officeDocument/2006/relationships/image" Target="/ppt/media/image16.jpeg" Id="Rb321513dbb254d38" /><Relationship Type="http://schemas.openxmlformats.org/officeDocument/2006/relationships/hyperlink" Target="https://github.com/student-operated-technology-ecosystem/cit205-portfolio-template/blob/main/artifacts/README.md" TargetMode="External" Id="R1d6e24de40174895" /><Relationship Type="http://schemas.openxmlformats.org/officeDocument/2006/relationships/notesSlide" Target="/ppt/notesSlides/notesSlide25.xml" Id="R2e1f55d98d0a44d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b056989c7104f56" /><Relationship Type="http://schemas.openxmlformats.org/officeDocument/2006/relationships/notesSlide" Target="/ppt/notesSlides/notesSlide26.xml" Id="Rd1988b28dc03429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cd1e6b501454c5e" /><Relationship Type="http://schemas.openxmlformats.org/officeDocument/2006/relationships/image" Target="/ppt/media/image17.jpeg" Id="Rfc3f7b04ce9d4fb5" /><Relationship Type="http://schemas.openxmlformats.org/officeDocument/2006/relationships/hyperlink" Target="https://docs.github.com/en/pages/getting-started-with-github-pages/creating-a-github-pages-site" TargetMode="External" Id="R6c40eb74cdca4d52" /><Relationship Type="http://schemas.openxmlformats.org/officeDocument/2006/relationships/notesSlide" Target="/ppt/notesSlides/notesSlide27.xml" Id="Rc3b647ed80da498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22fa0fc41be4817" /><Relationship Type="http://schemas.openxmlformats.org/officeDocument/2006/relationships/notesSlide" Target="/ppt/notesSlides/notesSlide28.xml" Id="R6576b8becff14b5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17d6e73d2794837" /><Relationship Type="http://schemas.openxmlformats.org/officeDocument/2006/relationships/image" Target="/ppt/media/image18.jpeg" Id="R49774d45024c4426" /><Relationship Type="http://schemas.openxmlformats.org/officeDocument/2006/relationships/hyperlink" Target="https://github.com/student-operated-technology-ecosystem/CIT-205-classroom/actions/runs/38149597827" TargetMode="External" Id="R4f12e5f26e8a4aee" /><Relationship Type="http://schemas.openxmlformats.org/officeDocument/2006/relationships/notesSlide" Target="/ppt/notesSlides/notesSlide29.xml" Id="R29508b8b92ea44d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b87fbdf14b54f04" /><Relationship Type="http://schemas.openxmlformats.org/officeDocument/2006/relationships/image" Target="/ppt/media/image19.jpeg" Id="Re2d59ff0863b434c" /><Relationship Type="http://schemas.openxmlformats.org/officeDocument/2006/relationships/hyperlink" Target="https://student-operated-technology-ecosystem.github.io/CIT-205-classroom/examples/exemplary-portfolio/" TargetMode="External" Id="Rb941a348db6e43ae" /><Relationship Type="http://schemas.openxmlformats.org/officeDocument/2006/relationships/notesSlide" Target="/ppt/notesSlides/notesSlide30.xml" Id="Rbe9ff2bb5f3148e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41913312790450b" /><Relationship Type="http://schemas.openxmlformats.org/officeDocument/2006/relationships/image" Target="/ppt/media/image20.jpeg" Id="R396f56b2b2d04ccf" /><Relationship Type="http://schemas.openxmlformats.org/officeDocument/2006/relationships/hyperlink" Target="https://courses.ccac.edu/ultra/courses/_227360_1/assessment/test/_21349174_1?gradeitemView=details" TargetMode="External" Id="R5f52cd43b1bb4523" /><Relationship Type="http://schemas.openxmlformats.org/officeDocument/2006/relationships/notesSlide" Target="/ppt/notesSlides/notesSlide31.xml" Id="R1dadabc1c382421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40fb266e8a243c1" /><Relationship Type="http://schemas.openxmlformats.org/officeDocument/2006/relationships/notesSlide" Target="/ppt/notesSlides/notesSlide32.xml" Id="R8e074074d4d6401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868c5dca4204cd0" /><Relationship Type="http://schemas.openxmlformats.org/officeDocument/2006/relationships/hyperlink" Target="https://courses.ccac.edu/ultra/courses/_227360_1/assessment/test/_21349174_1?gradeitemView=details" TargetMode="External" Id="Rf6f33640ec854342" /><Relationship Type="http://schemas.openxmlformats.org/officeDocument/2006/relationships/notesSlide" Target="/ppt/notesSlides/notesSlide33.xml" Id="R7a60c07cd03d49c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ddefbbdc81942c6" /><Relationship Type="http://schemas.openxmlformats.org/officeDocument/2006/relationships/hyperlink" Target="https://professorsneaker.com/portfolios.html" TargetMode="External" Id="R4f28d6f9f01d446a" /><Relationship Type="http://schemas.openxmlformats.org/officeDocument/2006/relationships/notesSlide" Target="/ppt/notesSlides/notesSlide34.xml" Id="R1ae56adecee0496f"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D8E065-8483-4467-BA18-B3C434FB429A}"/>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86D0ED56-C468-49FC-B873-705AF7B1AD8D}"/>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1">
                <a:solidFill>
                  <a:srgbClr val="132B3E"/>
                </a:solidFill>
                <a:latin typeface="DejaVu Sans"/>
                <a:ea typeface="DejaVu Sans"/>
                <a:cs typeface="DejaVu Sans"/>
              </a:defRPr>
            </a:defPPr>
          </a:lstStyle>
          <a:p xmlns:a="http://schemas.openxmlformats.org/drawingml/2006/main">
            <a:pPr>
              <a:defRPr sz="4125" b="1">
                <a:solidFill>
                  <a:srgbClr val="132B3E"/>
                </a:solidFill>
                <a:latin typeface="DejaVu Sans"/>
                <a:ea typeface="DejaVu Sans"/>
                <a:cs typeface="DejaVu Sans"/>
              </a:defRPr>
            </a:pPr>
            <a:r>
              <a:rPr sz="4125" b="1">
                <a:solidFill>
                  <a:srgbClr val="132B3E"/>
                </a:solidFill>
                <a:latin typeface="DejaVu Sans"/>
                <a:ea typeface="DejaVu Sans"/>
                <a:cs typeface="DejaVu Sans"/>
              </a:rPr>
              <a:t>CIT-205 | From Word Document</a:t>
            </a:r>
          </a:p>
          <a:p xmlns:a="http://schemas.openxmlformats.org/drawingml/2006/main">
            <a:pPr>
              <a:defRPr sz="4125" b="1">
                <a:solidFill>
                  <a:srgbClr val="132B3E"/>
                </a:solidFill>
                <a:latin typeface="DejaVu Sans"/>
                <a:ea typeface="DejaVu Sans"/>
                <a:cs typeface="DejaVu Sans"/>
              </a:defRPr>
            </a:pPr>
            <a:r>
              <a:rPr sz="4125" b="1">
                <a:solidFill>
                  <a:srgbClr val="132B3E"/>
                </a:solidFill>
                <a:latin typeface="DejaVu Sans"/>
                <a:ea typeface="DejaVu Sans"/>
                <a:cs typeface="DejaVu Sans"/>
              </a:rPr>
              <a:t>to Professional Portfolio</a:t>
            </a:r>
          </a:p>
        </p:txBody>
      </p:sp>
      <p:sp>
        <p:nvSpPr>
          <p:cNvPr id="3" name="">
            <a:extLst xmlns:a="http://schemas.openxmlformats.org/drawingml/2006/main">
              <a:ext uri="{FF2B5EF4-FFF2-40B4-BE49-F238E27FC236}">
                <a16:creationId xmlns:a16="http://schemas.microsoft.com/office/drawing/2014/main" id="{57E0F583-BA71-43F0-AA50-7D98FB6C6C52}"/>
              </a:ext>
            </a:extLst>
          </p:cNvPr>
          <p:cNvSpPr>
            <a:spLocks xmlns:a="http://schemas.openxmlformats.org/drawingml/2006/main" noGrp="1"/>
          </p:cNvSpPr>
          <p:nvPr/>
        </p:nvSpPr>
        <p:spPr>
          <a:xfrm xmlns:a="http://schemas.openxmlformats.org/drawingml/2006/main">
            <a:off x="609600" y="2095500"/>
            <a:ext cx="108204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72D40"/>
                </a:solidFill>
                <a:latin typeface="DejaVu Sans"/>
                <a:ea typeface="DejaVu Sans"/>
                <a:cs typeface="DejaVu Sans"/>
              </a:defRPr>
            </a:defPPr>
          </a:lstStyle>
          <a:p xmlns:a="http://schemas.openxmlformats.org/drawingml/2006/main">
            <a:pPr>
              <a:defRPr sz="2550" b="0">
                <a:solidFill>
                  <a:srgbClr val="172D40"/>
                </a:solidFill>
                <a:latin typeface="DejaVu Sans"/>
                <a:ea typeface="DejaVu Sans"/>
                <a:cs typeface="DejaVu Sans"/>
              </a:defRPr>
            </a:pPr>
            <a:r>
              <a:rPr sz="2550" b="0">
                <a:solidFill>
                  <a:srgbClr val="172D40"/>
                </a:solidFill>
                <a:latin typeface="DejaVu Sans"/>
                <a:ea typeface="DejaVu Sans"/>
                <a:cs typeface="DejaVu Sans"/>
              </a:rPr>
              <a:t>LEARN → PRACTICE → OPERATE → QUALIFY</a:t>
            </a:r>
          </a:p>
          <a:p xmlns:a="http://schemas.openxmlformats.org/drawingml/2006/main">
            <a:pPr>
              <a:defRPr sz="2550" b="0">
                <a:solidFill>
                  <a:srgbClr val="172D40"/>
                </a:solidFill>
                <a:latin typeface="DejaVu Sans"/>
                <a:ea typeface="DejaVu Sans"/>
                <a:cs typeface="DejaVu Sans"/>
              </a:defRPr>
            </a:pPr>
            <a:r>
              <a:rPr sz="2550" b="0">
                <a:solidFill>
                  <a:srgbClr val="172D40"/>
                </a:solidFill>
                <a:latin typeface="DejaVu Sans"/>
                <a:ea typeface="DejaVu Sans"/>
                <a:cs typeface="DejaVu Sans"/>
              </a:rPr>
              <a:t>Professor Sneaker | Monday, October 12, 2026</a:t>
            </a:r>
          </a:p>
          <a:p xmlns:a="http://schemas.openxmlformats.org/drawingml/2006/main">
            <a:pPr>
              <a:defRPr sz="2550" b="0">
                <a:solidFill>
                  <a:srgbClr val="172D40"/>
                </a:solidFill>
                <a:latin typeface="DejaVu Sans"/>
                <a:ea typeface="DejaVu Sans"/>
                <a:cs typeface="DejaVu Sans"/>
              </a:defRPr>
            </a:pPr>
            <a:r>
              <a:rPr sz="2550" b="0">
                <a:solidFill>
                  <a:srgbClr val="172D40"/>
                </a:solidFill>
                <a:latin typeface="DejaVu Sans"/>
                <a:ea typeface="DejaVu Sans"/>
                <a:cs typeface="DejaVu Sans"/>
              </a:rPr>
              <a:t>Today: publish your own evidence, then prove it works.</a:t>
            </a:r>
          </a:p>
        </p:txBody>
      </p:sp>
      <p:sp>
        <p:nvSpPr>
          <p:cNvPr id="4" name="">
            <a:extLst xmlns:a="http://schemas.openxmlformats.org/drawingml/2006/main">
              <a:ext uri="{FF2B5EF4-FFF2-40B4-BE49-F238E27FC236}">
                <a16:creationId xmlns:a16="http://schemas.microsoft.com/office/drawing/2014/main" id="{29F71E87-CD77-48C7-8DF5-40357DA14CF7}"/>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f9f01788591f4409"/>
              </a:rPr>
              <a:t>Open Blackboard lesson ↗</a:t>
            </a:r>
          </a:p>
        </p:txBody>
      </p:sp>
      <p:sp>
        <p:nvSpPr>
          <p:cNvPr id="5" name="">
            <a:extLst xmlns:a="http://schemas.openxmlformats.org/drawingml/2006/main">
              <a:ext uri="{FF2B5EF4-FFF2-40B4-BE49-F238E27FC236}">
                <a16:creationId xmlns:a16="http://schemas.microsoft.com/office/drawing/2014/main" id="{68EE5F26-936E-4A17-87C6-8C6275B662A5}"/>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1</a:t>
            </a:r>
          </a:p>
        </p:txBody>
      </p:sp>
    </p:spTree>
    <p:extLst>
      <p:ext uri="{BB962C8B-B14F-4D97-AF65-F5344CB8AC3E}">
        <p14:creationId xmlns:p14="http://schemas.microsoft.com/office/powerpoint/2010/main" val="110949990"/>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986B79E-0EFB-45B8-96AB-0171AF37AB05}"/>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7A4F1242-36C9-458A-9B7E-EB570C6235DF}"/>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Evidence beats a skill claim</a:t>
            </a:r>
          </a:p>
        </p:txBody>
      </p:sp>
      <p:sp>
        <p:nvSpPr>
          <p:cNvPr id="3" name="">
            <a:extLst xmlns:a="http://schemas.openxmlformats.org/drawingml/2006/main">
              <a:ext uri="{FF2B5EF4-FFF2-40B4-BE49-F238E27FC236}">
                <a16:creationId xmlns:a16="http://schemas.microsoft.com/office/drawing/2014/main" id="{B4C62995-4843-4972-BEE1-6C677DF54509}"/>
              </a:ext>
            </a:extLst>
          </p:cNvPr>
          <p:cNvSpPr>
            <a:spLocks xmlns:a="http://schemas.openxmlformats.org/drawingml/2006/main" noGrp="1"/>
          </p:cNvSpPr>
          <p:nvPr/>
        </p:nvSpPr>
        <p:spPr>
          <a:xfrm xmlns:a="http://schemas.openxmlformats.org/drawingml/2006/main">
            <a:off x="609600" y="2095500"/>
            <a:ext cx="108204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D40"/>
                </a:solidFill>
                <a:latin typeface="DejaVu Sans"/>
                <a:ea typeface="DejaVu Sans"/>
                <a:cs typeface="DejaVu Sans"/>
              </a:defRPr>
            </a:defPPr>
          </a:lstStyle>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Claim: “I can troubleshoot.”</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Evidence: symptom → safe test → result → validation.</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Explain your contribution, not just the team’s output.</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An employer can inspect the actual work.</a:t>
            </a:r>
          </a:p>
        </p:txBody>
      </p:sp>
      <p:sp>
        <p:nvSpPr>
          <p:cNvPr id="4" name="">
            <a:extLst xmlns:a="http://schemas.openxmlformats.org/drawingml/2006/main">
              <a:ext uri="{FF2B5EF4-FFF2-40B4-BE49-F238E27FC236}">
                <a16:creationId xmlns:a16="http://schemas.microsoft.com/office/drawing/2014/main" id="{0258236B-3790-4827-941E-1777EB7B2C2D}"/>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2</a:t>
            </a:r>
          </a:p>
        </p:txBody>
      </p:sp>
    </p:spTree>
    <p:extLst>
      <p:ext uri="{BB962C8B-B14F-4D97-AF65-F5344CB8AC3E}">
        <p14:creationId xmlns:p14="http://schemas.microsoft.com/office/powerpoint/2010/main" val="208610451"/>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0CC8DD-A6A3-4572-BCED-FAD4B3ADA6F5}"/>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CCCF45B5-7EF7-4DD4-A429-A152B1EDADEF}"/>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A portfolio grows with your skills</a:t>
            </a:r>
          </a:p>
        </p:txBody>
      </p:sp>
      <p:sp>
        <p:nvSpPr>
          <p:cNvPr id="3" name="">
            <a:extLst xmlns:a="http://schemas.openxmlformats.org/drawingml/2006/main">
              <a:ext uri="{FF2B5EF4-FFF2-40B4-BE49-F238E27FC236}">
                <a16:creationId xmlns:a16="http://schemas.microsoft.com/office/drawing/2014/main" id="{C3012B6C-479A-4F2E-B5B1-5F41C4987F80}"/>
              </a:ext>
            </a:extLst>
          </p:cNvPr>
          <p:cNvSpPr>
            <a:spLocks xmlns:a="http://schemas.openxmlformats.org/drawingml/2006/main" noGrp="1"/>
          </p:cNvSpPr>
          <p:nvPr/>
        </p:nvSpPr>
        <p:spPr>
          <a:xfrm xmlns:a="http://schemas.openxmlformats.org/drawingml/2006/main">
            <a:off x="609600" y="2095500"/>
            <a:ext cx="108204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D40"/>
                </a:solidFill>
                <a:latin typeface="DejaVu Sans"/>
                <a:ea typeface="DejaVu Sans"/>
                <a:cs typeface="DejaVu Sans"/>
              </a:defRPr>
            </a:defPPr>
          </a:lstStyle>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LEARN: explain the method and vocabulary.</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PRACTICE: produce a reviewed artifact.</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OPERATE: apply it within authorized scope.</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QUALIFY: demonstrate a verified result.</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The portfolio holds semester evidence; it is not a final exam.</a:t>
            </a:r>
          </a:p>
        </p:txBody>
      </p:sp>
      <p:sp>
        <p:nvSpPr>
          <p:cNvPr id="4" name="">
            <a:extLst xmlns:a="http://schemas.openxmlformats.org/drawingml/2006/main">
              <a:ext uri="{FF2B5EF4-FFF2-40B4-BE49-F238E27FC236}">
                <a16:creationId xmlns:a16="http://schemas.microsoft.com/office/drawing/2014/main" id="{23D73775-FA6D-4431-9256-41003F9B0220}"/>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3</a:t>
            </a:r>
          </a:p>
        </p:txBody>
      </p:sp>
    </p:spTree>
    <p:extLst>
      <p:ext uri="{BB962C8B-B14F-4D97-AF65-F5344CB8AC3E}">
        <p14:creationId xmlns:p14="http://schemas.microsoft.com/office/powerpoint/2010/main" val="1573743789"/>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2AE8EE-70F2-424A-BDE5-6231DA6956CF}"/>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9F57CB0A-AE8D-4F72-917B-5EF8E61E4081}"/>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Tour the live Alex Morgan portfolio</a:t>
            </a:r>
          </a:p>
        </p:txBody>
      </p:sp>
      <p:pic>
        <p:nvPicPr>
          <p:cNvPr id="3" name="">
            <a:extLst xmlns:a="http://schemas.openxmlformats.org/drawingml/2006/main">
              <a:ext uri="{FF2B5EF4-FFF2-40B4-BE49-F238E27FC236}">
                <a16:creationId xmlns:a16="http://schemas.microsoft.com/office/drawing/2014/main" id="{C6C3906D-CBDA-4430-8479-5C26749C13C5}"/>
              </a:ext>
            </a:extLst>
          </p:cNvPr>
          <p:cNvPicPr>
            <a:picLocks xmlns:a="http://schemas.openxmlformats.org/drawingml/2006/main" noChangeAspect="1"/>
          </p:cNvPicPr>
          <p:nvPr/>
        </p:nvPicPr>
        <p:blipFill>
          <a:blip xmlns:r="http://schemas.openxmlformats.org/officeDocument/2006/relationships" xmlns:a="http://schemas.openxmlformats.org/drawingml/2006/main" r:embed="R449f3084623b4c29"/>
          <a:stretch xmlns:a="http://schemas.openxmlformats.org/drawingml/2006/main"/>
        </p:blipFill>
        <p:spPr>
          <a:xfrm xmlns:a="http://schemas.openxmlformats.org/drawingml/2006/main">
            <a:off x="1249647" y="1943100"/>
            <a:ext cx="6073206"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4F0D313-0B12-40D0-B538-E692602CA945}"/>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Fictional instructional model, not a real student.</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Homepage → artifact page → complete PDF.</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Read context, action, evidence and reflection.</a:t>
            </a:r>
          </a:p>
        </p:txBody>
      </p:sp>
      <p:sp>
        <p:nvSpPr>
          <p:cNvPr id="5" name="">
            <a:extLst xmlns:a="http://schemas.openxmlformats.org/drawingml/2006/main">
              <a:ext uri="{FF2B5EF4-FFF2-40B4-BE49-F238E27FC236}">
                <a16:creationId xmlns:a16="http://schemas.microsoft.com/office/drawing/2014/main" id="{950B97B4-8FBE-48E4-945C-D06F78E68324}"/>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FA99E4DA-FDB0-47AA-A993-2067FED82950}"/>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687a794729714fdc"/>
              </a:rPr>
              <a:t>Open live Alex portfolio ↗</a:t>
            </a:r>
          </a:p>
        </p:txBody>
      </p:sp>
      <p:sp>
        <p:nvSpPr>
          <p:cNvPr id="7" name="">
            <a:extLst xmlns:a="http://schemas.openxmlformats.org/drawingml/2006/main">
              <a:ext uri="{FF2B5EF4-FFF2-40B4-BE49-F238E27FC236}">
                <a16:creationId xmlns:a16="http://schemas.microsoft.com/office/drawing/2014/main" id="{872AF2DA-D794-4BE7-A2FF-43974F9F86D0}"/>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4</a:t>
            </a:r>
          </a:p>
        </p:txBody>
      </p:sp>
    </p:spTree>
    <p:extLst>
      <p:ext uri="{BB962C8B-B14F-4D97-AF65-F5344CB8AC3E}">
        <p14:creationId xmlns:p14="http://schemas.microsoft.com/office/powerpoint/2010/main" val="491446169"/>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4D5C686-D026-4145-B70A-1795D9A5C389}"/>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57DAD03F-C145-4FD7-AE9E-D25DC1F186F1}"/>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Validation: prove a defensible outcome</a:t>
            </a:r>
          </a:p>
        </p:txBody>
      </p:sp>
      <p:pic>
        <p:nvPicPr>
          <p:cNvPr id="3" name="">
            <a:extLst xmlns:a="http://schemas.openxmlformats.org/drawingml/2006/main">
              <a:ext uri="{FF2B5EF4-FFF2-40B4-BE49-F238E27FC236}">
                <a16:creationId xmlns:a16="http://schemas.microsoft.com/office/drawing/2014/main" id="{4E73689C-79D2-4AE5-A79E-01BE5164C1EB}"/>
              </a:ext>
            </a:extLst>
          </p:cNvPr>
          <p:cNvPicPr>
            <a:picLocks xmlns:a="http://schemas.openxmlformats.org/drawingml/2006/main" noChangeAspect="1"/>
          </p:cNvPicPr>
          <p:nvPr/>
        </p:nvPicPr>
        <p:blipFill>
          <a:blip xmlns:r="http://schemas.openxmlformats.org/officeDocument/2006/relationships" xmlns:a="http://schemas.openxmlformats.org/drawingml/2006/main" r:embed="R26a14cf07bae4305"/>
          <a:stretch xmlns:a="http://schemas.openxmlformats.org/drawingml/2006/main"/>
        </p:blipFill>
        <p:spPr>
          <a:xfrm xmlns:a="http://schemas.openxmlformats.org/drawingml/2006/main">
            <a:off x="1249647" y="1943100"/>
            <a:ext cx="6073206"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139C927-1DC0-4D30-A3CA-A970E24EEF01}"/>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Workstation Validation: expected versus observed.</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Server Validation: pass, hold or escalate.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Evidence never grants permission to repair.</a:t>
            </a:r>
          </a:p>
        </p:txBody>
      </p:sp>
      <p:sp>
        <p:nvSpPr>
          <p:cNvPr id="5" name="">
            <a:extLst xmlns:a="http://schemas.openxmlformats.org/drawingml/2006/main">
              <a:ext uri="{FF2B5EF4-FFF2-40B4-BE49-F238E27FC236}">
                <a16:creationId xmlns:a16="http://schemas.microsoft.com/office/drawing/2014/main" id="{D5527C0F-4666-459C-8A10-09D414020E48}"/>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52DBAF19-956A-445F-9D2A-4FB577766406}"/>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04d41ad3ba8744c2"/>
              </a:rPr>
              <a:t>Open Workstation Validation ↗</a:t>
            </a:r>
          </a:p>
        </p:txBody>
      </p:sp>
      <p:sp>
        <p:nvSpPr>
          <p:cNvPr id="7" name="">
            <a:extLst xmlns:a="http://schemas.openxmlformats.org/drawingml/2006/main">
              <a:ext uri="{FF2B5EF4-FFF2-40B4-BE49-F238E27FC236}">
                <a16:creationId xmlns:a16="http://schemas.microsoft.com/office/drawing/2014/main" id="{5445D201-A222-4552-9E53-4BA0CB416EB4}"/>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5</a:t>
            </a:r>
          </a:p>
        </p:txBody>
      </p:sp>
    </p:spTree>
    <p:extLst>
      <p:ext uri="{BB962C8B-B14F-4D97-AF65-F5344CB8AC3E}">
        <p14:creationId xmlns:p14="http://schemas.microsoft.com/office/powerpoint/2010/main" val="1206980622"/>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7BB699-127F-456A-B006-9161B96F2F39}"/>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EC0F95F0-BD59-4964-B54D-17D864BE14C6}"/>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Tickets: communicate and close the loop</a:t>
            </a:r>
          </a:p>
        </p:txBody>
      </p:sp>
      <p:pic>
        <p:nvPicPr>
          <p:cNvPr id="3" name="">
            <a:extLst xmlns:a="http://schemas.openxmlformats.org/drawingml/2006/main">
              <a:ext uri="{FF2B5EF4-FFF2-40B4-BE49-F238E27FC236}">
                <a16:creationId xmlns:a16="http://schemas.microsoft.com/office/drawing/2014/main" id="{675EA434-B9A0-416F-9FB2-F4D8111614F1}"/>
              </a:ext>
            </a:extLst>
          </p:cNvPr>
          <p:cNvPicPr>
            <a:picLocks xmlns:a="http://schemas.openxmlformats.org/drawingml/2006/main" noChangeAspect="1"/>
          </p:cNvPicPr>
          <p:nvPr/>
        </p:nvPicPr>
        <p:blipFill>
          <a:blip xmlns:r="http://schemas.openxmlformats.org/officeDocument/2006/relationships" xmlns:a="http://schemas.openxmlformats.org/drawingml/2006/main" r:embed="Rcdfe7b43385c470e"/>
          <a:stretch xmlns:a="http://schemas.openxmlformats.org/drawingml/2006/main"/>
        </p:blipFill>
        <p:spPr>
          <a:xfrm xmlns:a="http://schemas.openxmlformats.org/drawingml/2006/main">
            <a:off x="1249647" y="1943100"/>
            <a:ext cx="6073206"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6398993-2FC8-463A-971F-0BC27D00BFB6}"/>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Phone Support Ticket: clarify, record, validate.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Email Support Ticket: readable written handoff.</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A closed ticket needs a confirmed outcome.</a:t>
            </a:r>
          </a:p>
        </p:txBody>
      </p:sp>
      <p:sp>
        <p:nvSpPr>
          <p:cNvPr id="5" name="">
            <a:extLst xmlns:a="http://schemas.openxmlformats.org/drawingml/2006/main">
              <a:ext uri="{FF2B5EF4-FFF2-40B4-BE49-F238E27FC236}">
                <a16:creationId xmlns:a16="http://schemas.microsoft.com/office/drawing/2014/main" id="{2E482D80-AA31-4642-A89E-08249F502F07}"/>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663A4277-7DC9-4FCC-A427-57139AE5E2B5}"/>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70fee46c8e094241"/>
              </a:rPr>
              <a:t>Open Phone Support Ticket ↗</a:t>
            </a:r>
          </a:p>
        </p:txBody>
      </p:sp>
      <p:sp>
        <p:nvSpPr>
          <p:cNvPr id="7" name="">
            <a:extLst xmlns:a="http://schemas.openxmlformats.org/drawingml/2006/main">
              <a:ext uri="{FF2B5EF4-FFF2-40B4-BE49-F238E27FC236}">
                <a16:creationId xmlns:a16="http://schemas.microsoft.com/office/drawing/2014/main" id="{753B283F-1A52-452C-AFEF-DE5195A55C25}"/>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6</a:t>
            </a:r>
          </a:p>
        </p:txBody>
      </p:sp>
    </p:spTree>
    <p:extLst>
      <p:ext uri="{BB962C8B-B14F-4D97-AF65-F5344CB8AC3E}">
        <p14:creationId xmlns:p14="http://schemas.microsoft.com/office/powerpoint/2010/main" val="1579493896"/>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6CE994-50F8-4A54-BFC9-074B5ABB1347}"/>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A56CA10D-9DB8-4E15-9A32-AFE5C47BCE90}"/>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Knowledge: make a solution repeatable</a:t>
            </a:r>
          </a:p>
        </p:txBody>
      </p:sp>
      <p:pic>
        <p:nvPicPr>
          <p:cNvPr id="3" name="">
            <a:extLst xmlns:a="http://schemas.openxmlformats.org/drawingml/2006/main">
              <a:ext uri="{FF2B5EF4-FFF2-40B4-BE49-F238E27FC236}">
                <a16:creationId xmlns:a16="http://schemas.microsoft.com/office/drawing/2014/main" id="{6FB99780-2B41-4960-9320-518B116452AB}"/>
              </a:ext>
            </a:extLst>
          </p:cNvPr>
          <p:cNvPicPr>
            <a:picLocks xmlns:a="http://schemas.openxmlformats.org/drawingml/2006/main" noChangeAspect="1"/>
          </p:cNvPicPr>
          <p:nvPr/>
        </p:nvPicPr>
        <p:blipFill>
          <a:blip xmlns:r="http://schemas.openxmlformats.org/officeDocument/2006/relationships" xmlns:a="http://schemas.openxmlformats.org/drawingml/2006/main" r:embed="Rf1bae94101d64e8e"/>
          <a:stretch xmlns:a="http://schemas.openxmlformats.org/drawingml/2006/main"/>
        </p:blipFill>
        <p:spPr>
          <a:xfrm xmlns:a="http://schemas.openxmlformats.org/drawingml/2006/main">
            <a:off x="1249647" y="1943100"/>
            <a:ext cx="6073206"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E740A9-895F-46D5-B2F9-6CBC496AF7E5}"/>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Knowledge Base Article: reusable procedure.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ACE Decision Tree: defensible troubleshooting.</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State prerequisites, safety and stop conditions.</a:t>
            </a:r>
          </a:p>
        </p:txBody>
      </p:sp>
      <p:sp>
        <p:nvSpPr>
          <p:cNvPr id="5" name="">
            <a:extLst xmlns:a="http://schemas.openxmlformats.org/drawingml/2006/main">
              <a:ext uri="{FF2B5EF4-FFF2-40B4-BE49-F238E27FC236}">
                <a16:creationId xmlns:a16="http://schemas.microsoft.com/office/drawing/2014/main" id="{D3E04103-E30C-478A-898A-4F8232672712}"/>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C3147A4E-8A46-4B30-8BC6-B89ADD5542A9}"/>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7e43f5e8d27643ab"/>
              </a:rPr>
              <a:t>Open Knowledge Base Article ↗</a:t>
            </a:r>
          </a:p>
        </p:txBody>
      </p:sp>
      <p:sp>
        <p:nvSpPr>
          <p:cNvPr id="7" name="">
            <a:extLst xmlns:a="http://schemas.openxmlformats.org/drawingml/2006/main">
              <a:ext uri="{FF2B5EF4-FFF2-40B4-BE49-F238E27FC236}">
                <a16:creationId xmlns:a16="http://schemas.microsoft.com/office/drawing/2014/main" id="{9E5CBEC4-4AFA-47F5-9592-CD4692D614BA}"/>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7</a:t>
            </a:r>
          </a:p>
        </p:txBody>
      </p:sp>
    </p:spTree>
    <p:extLst>
      <p:ext uri="{BB962C8B-B14F-4D97-AF65-F5344CB8AC3E}">
        <p14:creationId xmlns:p14="http://schemas.microsoft.com/office/powerpoint/2010/main" val="1540998787"/>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E09BE7-4FFF-40E4-8870-79C893046814}"/>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5F777DD1-E0BE-4821-BB58-C7A8E3655EB2}"/>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Review the mission and knowledge record</a:t>
            </a:r>
          </a:p>
        </p:txBody>
      </p:sp>
      <p:sp>
        <p:nvSpPr>
          <p:cNvPr id="3" name="">
            <a:extLst xmlns:a="http://schemas.openxmlformats.org/drawingml/2006/main">
              <a:ext uri="{FF2B5EF4-FFF2-40B4-BE49-F238E27FC236}">
                <a16:creationId xmlns:a16="http://schemas.microsoft.com/office/drawing/2014/main" id="{CD31D809-306B-4A08-BCA5-D83277C9D963}"/>
              </a:ext>
            </a:extLst>
          </p:cNvPr>
          <p:cNvSpPr>
            <a:spLocks xmlns:a="http://schemas.openxmlformats.org/drawingml/2006/main" noGrp="1"/>
          </p:cNvSpPr>
          <p:nvPr/>
        </p:nvSpPr>
        <p:spPr>
          <a:xfrm xmlns:a="http://schemas.openxmlformats.org/drawingml/2006/main">
            <a:off x="609600" y="2095500"/>
            <a:ext cx="108204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D40"/>
                </a:solidFill>
                <a:latin typeface="DejaVu Sans"/>
                <a:ea typeface="DejaVu Sans"/>
                <a:cs typeface="DejaVu Sans"/>
              </a:defRPr>
            </a:defPPr>
          </a:lstStyle>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Mission Proposal: need, scope, evidence, constraints.</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Ticket &amp; Knowledge Review: improve the record.</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Documentation Vocabulary: use terms accurately.</a:t>
            </a:r>
          </a:p>
        </p:txBody>
      </p:sp>
      <p:sp>
        <p:nvSpPr>
          <p:cNvPr id="4" name="">
            <a:extLst xmlns:a="http://schemas.openxmlformats.org/drawingml/2006/main">
              <a:ext uri="{FF2B5EF4-FFF2-40B4-BE49-F238E27FC236}">
                <a16:creationId xmlns:a16="http://schemas.microsoft.com/office/drawing/2014/main" id="{A179DB59-4152-4217-A333-1FA23B06465F}"/>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0e02027e76fb4dc7"/>
              </a:rPr>
              <a:t>Open Mission Proposal ↗</a:t>
            </a:r>
          </a:p>
        </p:txBody>
      </p:sp>
      <p:sp>
        <p:nvSpPr>
          <p:cNvPr id="5" name="">
            <a:extLst xmlns:a="http://schemas.openxmlformats.org/drawingml/2006/main">
              <a:ext uri="{FF2B5EF4-FFF2-40B4-BE49-F238E27FC236}">
                <a16:creationId xmlns:a16="http://schemas.microsoft.com/office/drawing/2014/main" id="{1F689A14-8CDE-440B-BA0D-9D73E1CBC337}"/>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8</a:t>
            </a:r>
          </a:p>
        </p:txBody>
      </p:sp>
    </p:spTree>
    <p:extLst>
      <p:ext uri="{BB962C8B-B14F-4D97-AF65-F5344CB8AC3E}">
        <p14:creationId xmlns:p14="http://schemas.microsoft.com/office/powerpoint/2010/main" val="1034049392"/>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A868CB-FB55-4CFA-BE9D-37022F1BDBA6}"/>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0A27FC47-EC6C-4437-AAB5-92A3D79823B9}"/>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Professional identity is evidence-backed</a:t>
            </a:r>
          </a:p>
        </p:txBody>
      </p:sp>
      <p:sp>
        <p:nvSpPr>
          <p:cNvPr id="3" name="">
            <a:extLst xmlns:a="http://schemas.openxmlformats.org/drawingml/2006/main">
              <a:ext uri="{FF2B5EF4-FFF2-40B4-BE49-F238E27FC236}">
                <a16:creationId xmlns:a16="http://schemas.microsoft.com/office/drawing/2014/main" id="{A74D8582-D3CB-431C-97AB-F1EA4C7000E8}"/>
              </a:ext>
            </a:extLst>
          </p:cNvPr>
          <p:cNvSpPr>
            <a:spLocks xmlns:a="http://schemas.openxmlformats.org/drawingml/2006/main" noGrp="1"/>
          </p:cNvSpPr>
          <p:nvPr/>
        </p:nvSpPr>
        <p:spPr>
          <a:xfrm xmlns:a="http://schemas.openxmlformats.org/drawingml/2006/main">
            <a:off x="609600" y="2095500"/>
            <a:ext cx="108204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D40"/>
                </a:solidFill>
                <a:latin typeface="DejaVu Sans"/>
                <a:ea typeface="DejaVu Sans"/>
                <a:cs typeface="DejaVu Sans"/>
              </a:defRPr>
            </a:defPPr>
          </a:lstStyle>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GitHub Evidence: changes and review history.</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Resume: achievements supported by artifacts.</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LinkedIn evidence: professional presentation.</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Professional Reflection: limits and next steps.</a:t>
            </a:r>
          </a:p>
        </p:txBody>
      </p:sp>
      <p:sp>
        <p:nvSpPr>
          <p:cNvPr id="4" name="">
            <a:extLst xmlns:a="http://schemas.openxmlformats.org/drawingml/2006/main">
              <a:ext uri="{FF2B5EF4-FFF2-40B4-BE49-F238E27FC236}">
                <a16:creationId xmlns:a16="http://schemas.microsoft.com/office/drawing/2014/main" id="{C1D772E5-0EB2-44D9-A0DB-B176932EC82D}"/>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6b8442b199314e43"/>
              </a:rPr>
              <a:t>Open GitHub Evidence ↗</a:t>
            </a:r>
          </a:p>
        </p:txBody>
      </p:sp>
      <p:sp>
        <p:nvSpPr>
          <p:cNvPr id="5" name="">
            <a:extLst xmlns:a="http://schemas.openxmlformats.org/drawingml/2006/main">
              <a:ext uri="{FF2B5EF4-FFF2-40B4-BE49-F238E27FC236}">
                <a16:creationId xmlns:a16="http://schemas.microsoft.com/office/drawing/2014/main" id="{4829BDCC-FC43-438A-A3E7-D0E66A3B8C27}"/>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9</a:t>
            </a:r>
          </a:p>
        </p:txBody>
      </p:sp>
    </p:spTree>
    <p:extLst>
      <p:ext uri="{BB962C8B-B14F-4D97-AF65-F5344CB8AC3E}">
        <p14:creationId xmlns:p14="http://schemas.microsoft.com/office/powerpoint/2010/main" val="70439108"/>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82F113-7DD0-45DD-B4F5-31EFB76C9233}"/>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35C2BD00-5B08-41B0-8BF5-9CC71334A2B2}"/>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What makes a document professional?</a:t>
            </a:r>
          </a:p>
        </p:txBody>
      </p:sp>
      <p:sp>
        <p:nvSpPr>
          <p:cNvPr id="3" name="">
            <a:extLst xmlns:a="http://schemas.openxmlformats.org/drawingml/2006/main">
              <a:ext uri="{FF2B5EF4-FFF2-40B4-BE49-F238E27FC236}">
                <a16:creationId xmlns:a16="http://schemas.microsoft.com/office/drawing/2014/main" id="{3DA356F5-27EB-4EEC-A9E8-AF6DD5183751}"/>
              </a:ext>
            </a:extLst>
          </p:cNvPr>
          <p:cNvSpPr>
            <a:spLocks xmlns:a="http://schemas.openxmlformats.org/drawingml/2006/main" noGrp="1"/>
          </p:cNvSpPr>
          <p:nvPr/>
        </p:nvSpPr>
        <p:spPr>
          <a:xfrm xmlns:a="http://schemas.openxmlformats.org/drawingml/2006/main">
            <a:off x="609600" y="2095500"/>
            <a:ext cx="108204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D40"/>
                </a:solidFill>
                <a:latin typeface="DejaVu Sans"/>
                <a:ea typeface="DejaVu Sans"/>
                <a:cs typeface="DejaVu Sans"/>
              </a:defRPr>
            </a:defPPr>
          </a:lstStyle>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Clear title + author/date/version.</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Problem and scope before the procedure.</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Tables compare expected and actual outcomes.</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Evidence + validation + review + reflection.</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Consistent headings and readable page breaks.</a:t>
            </a:r>
          </a:p>
        </p:txBody>
      </p:sp>
      <p:sp>
        <p:nvSpPr>
          <p:cNvPr id="4" name="">
            <a:extLst xmlns:a="http://schemas.openxmlformats.org/drawingml/2006/main">
              <a:ext uri="{FF2B5EF4-FFF2-40B4-BE49-F238E27FC236}">
                <a16:creationId xmlns:a16="http://schemas.microsoft.com/office/drawing/2014/main" id="{C0A3FF82-08D4-44FF-8CCD-769798BEC019}"/>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0b6edea7538a4261"/>
              </a:rPr>
              <a:t>Inspect the full example ↗</a:t>
            </a:r>
          </a:p>
        </p:txBody>
      </p:sp>
      <p:sp>
        <p:nvSpPr>
          <p:cNvPr id="5" name="">
            <a:extLst xmlns:a="http://schemas.openxmlformats.org/drawingml/2006/main">
              <a:ext uri="{FF2B5EF4-FFF2-40B4-BE49-F238E27FC236}">
                <a16:creationId xmlns:a16="http://schemas.microsoft.com/office/drawing/2014/main" id="{E231E619-3C5F-4F6F-9AD0-7FB53140B6FB}"/>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10</a:t>
            </a:r>
          </a:p>
        </p:txBody>
      </p:sp>
    </p:spTree>
    <p:extLst>
      <p:ext uri="{BB962C8B-B14F-4D97-AF65-F5344CB8AC3E}">
        <p14:creationId xmlns:p14="http://schemas.microsoft.com/office/powerpoint/2010/main" val="762746153"/>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5E5981-773B-40B3-B51C-1839D718D35C}"/>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2C3BF796-5960-4CE3-8162-B99CA6E3803F}"/>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Open Word and reuse your existing draft</a:t>
            </a:r>
          </a:p>
        </p:txBody>
      </p:sp>
      <p:pic>
        <p:nvPicPr>
          <p:cNvPr id="3" name="">
            <a:extLst xmlns:a="http://schemas.openxmlformats.org/drawingml/2006/main">
              <a:ext uri="{FF2B5EF4-FFF2-40B4-BE49-F238E27FC236}">
                <a16:creationId xmlns:a16="http://schemas.microsoft.com/office/drawing/2014/main" id="{76DED929-055D-4B77-AD17-1E569686C49B}"/>
              </a:ext>
            </a:extLst>
          </p:cNvPr>
          <p:cNvPicPr>
            <a:picLocks xmlns:a="http://schemas.openxmlformats.org/drawingml/2006/main" noChangeAspect="1"/>
          </p:cNvPicPr>
          <p:nvPr/>
        </p:nvPicPr>
        <p:blipFill>
          <a:blip xmlns:r="http://schemas.openxmlformats.org/officeDocument/2006/relationships" xmlns:a="http://schemas.openxmlformats.org/drawingml/2006/main" r:embed="Rc9d30ad1f9814be5"/>
          <a:stretch xmlns:a="http://schemas.openxmlformats.org/drawingml/2006/main"/>
        </p:blipFill>
        <p:spPr>
          <a:xfrm xmlns:a="http://schemas.openxmlformats.org/drawingml/2006/main">
            <a:off x="1248660" y="1943100"/>
            <a:ext cx="6075179"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70DFD21-81D0-43AC-93C5-8CAC3162D010}"/>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Sign in to Microsoft 365 → Word.</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Open your CIT-205 Knowledge Article draft/template.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Save a personal copy before changing a shared template.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Keep the editable .docx in a known course folder.</a:t>
            </a:r>
          </a:p>
        </p:txBody>
      </p:sp>
      <p:sp>
        <p:nvSpPr>
          <p:cNvPr id="5" name="">
            <a:extLst xmlns:a="http://schemas.openxmlformats.org/drawingml/2006/main">
              <a:ext uri="{FF2B5EF4-FFF2-40B4-BE49-F238E27FC236}">
                <a16:creationId xmlns:a16="http://schemas.microsoft.com/office/drawing/2014/main" id="{FD5B9082-0B96-4C46-8D2D-30F8D938B9E3}"/>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D3465696-16BB-4AFA-8327-86E4D22D2B9E}"/>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73fba490f66b430f"/>
              </a:rPr>
              <a:t>Open Microsoft Word ↗</a:t>
            </a:r>
          </a:p>
        </p:txBody>
      </p:sp>
      <p:sp>
        <p:nvSpPr>
          <p:cNvPr id="7" name="">
            <a:extLst xmlns:a="http://schemas.openxmlformats.org/drawingml/2006/main">
              <a:ext uri="{FF2B5EF4-FFF2-40B4-BE49-F238E27FC236}">
                <a16:creationId xmlns:a16="http://schemas.microsoft.com/office/drawing/2014/main" id="{7E9DA4B7-A166-495E-A37D-E9EA8E05DA8B}"/>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11</a:t>
            </a:r>
          </a:p>
        </p:txBody>
      </p:sp>
    </p:spTree>
    <p:extLst>
      <p:ext uri="{BB962C8B-B14F-4D97-AF65-F5344CB8AC3E}">
        <p14:creationId xmlns:p14="http://schemas.microsoft.com/office/powerpoint/2010/main" val="2007305916"/>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03404D-5D26-4997-89AD-D36E5A5DC818}"/>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8869A662-23EB-46E4-8014-6CD64FDD6483}"/>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Title, metadata and scope come first</a:t>
            </a:r>
          </a:p>
        </p:txBody>
      </p:sp>
      <p:pic>
        <p:nvPicPr>
          <p:cNvPr id="3" name="">
            <a:extLst xmlns:a="http://schemas.openxmlformats.org/drawingml/2006/main">
              <a:ext uri="{FF2B5EF4-FFF2-40B4-BE49-F238E27FC236}">
                <a16:creationId xmlns:a16="http://schemas.microsoft.com/office/drawing/2014/main" id="{3BAEA770-80D7-4CA8-8439-81AA6EA565EB}"/>
              </a:ext>
            </a:extLst>
          </p:cNvPr>
          <p:cNvPicPr>
            <a:picLocks xmlns:a="http://schemas.openxmlformats.org/drawingml/2006/main" noChangeAspect="1"/>
          </p:cNvPicPr>
          <p:nvPr/>
        </p:nvPicPr>
        <p:blipFill>
          <a:blip xmlns:r="http://schemas.openxmlformats.org/officeDocument/2006/relationships" xmlns:a="http://schemas.openxmlformats.org/drawingml/2006/main" r:embed="R5a74f72af38643d7"/>
          <a:stretch xmlns:a="http://schemas.openxmlformats.org/drawingml/2006/main"/>
        </p:blipFill>
        <p:spPr>
          <a:xfrm xmlns:a="http://schemas.openxmlformats.org/drawingml/2006/main">
            <a:off x="1248660" y="1943100"/>
            <a:ext cx="6075179"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2D23E08-784B-4AEE-AFF0-0928CA15A5CE}"/>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Title: Wired Windows Workstation Has No Network Connection.</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Author • date • version • lab environment.</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Purpose: restore approved wired connectivity.</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Symptoms: link/network access unavailable.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Prerequisites + safety: approved lab; no credentials.</a:t>
            </a:r>
          </a:p>
        </p:txBody>
      </p:sp>
      <p:sp>
        <p:nvSpPr>
          <p:cNvPr id="5" name="">
            <a:extLst xmlns:a="http://schemas.openxmlformats.org/drawingml/2006/main">
              <a:ext uri="{FF2B5EF4-FFF2-40B4-BE49-F238E27FC236}">
                <a16:creationId xmlns:a16="http://schemas.microsoft.com/office/drawing/2014/main" id="{244843A5-6B11-432A-955F-530C0069BF19}"/>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37180640-A594-4DEF-83A0-69F1C2CC4094}"/>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12</a:t>
            </a:r>
          </a:p>
        </p:txBody>
      </p:sp>
    </p:spTree>
    <p:extLst>
      <p:ext uri="{BB962C8B-B14F-4D97-AF65-F5344CB8AC3E}">
        <p14:creationId xmlns:p14="http://schemas.microsoft.com/office/powerpoint/2010/main" val="270941845"/>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8CB1F6-E6A3-46E3-82AE-660CE01C6A5E}"/>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4E6287EE-87E1-4069-BADE-DB4CC3A9F1B3}"/>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Use Word heading styles</a:t>
            </a:r>
          </a:p>
        </p:txBody>
      </p:sp>
      <p:pic>
        <p:nvPicPr>
          <p:cNvPr id="3" name="">
            <a:extLst xmlns:a="http://schemas.openxmlformats.org/drawingml/2006/main">
              <a:ext uri="{FF2B5EF4-FFF2-40B4-BE49-F238E27FC236}">
                <a16:creationId xmlns:a16="http://schemas.microsoft.com/office/drawing/2014/main" id="{7D555F14-E6AF-4B6F-94A4-F702F2FA1D1A}"/>
              </a:ext>
            </a:extLst>
          </p:cNvPr>
          <p:cNvPicPr>
            <a:picLocks xmlns:a="http://schemas.openxmlformats.org/drawingml/2006/main" noChangeAspect="1"/>
          </p:cNvPicPr>
          <p:nvPr/>
        </p:nvPicPr>
        <p:blipFill>
          <a:blip xmlns:r="http://schemas.openxmlformats.org/officeDocument/2006/relationships" xmlns:a="http://schemas.openxmlformats.org/drawingml/2006/main" r:embed="R79c0e53f44e34139"/>
          <a:stretch xmlns:a="http://schemas.openxmlformats.org/drawingml/2006/main"/>
        </p:blipFill>
        <p:spPr>
          <a:xfrm xmlns:a="http://schemas.openxmlformats.org/drawingml/2006/main">
            <a:off x="2221780" y="1943100"/>
            <a:ext cx="4128940"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1D5EA06-AD9D-4D71-B22C-0B702E371C21}"/>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Select a section title → Home → Styles.</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Choose Heading 1 for major sections.</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Use Heading 2 for subsections.</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Do not simulate headings with bold text alone.</a:t>
            </a:r>
          </a:p>
        </p:txBody>
      </p:sp>
      <p:sp>
        <p:nvSpPr>
          <p:cNvPr id="5" name="">
            <a:extLst xmlns:a="http://schemas.openxmlformats.org/drawingml/2006/main">
              <a:ext uri="{FF2B5EF4-FFF2-40B4-BE49-F238E27FC236}">
                <a16:creationId xmlns:a16="http://schemas.microsoft.com/office/drawing/2014/main" id="{352DAABC-689B-4590-9E0B-CC909AE63527}"/>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265DB3EC-29CC-4C13-98C8-D3EB0675AF34}"/>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13</a:t>
            </a:r>
          </a:p>
        </p:txBody>
      </p:sp>
    </p:spTree>
    <p:extLst>
      <p:ext uri="{BB962C8B-B14F-4D97-AF65-F5344CB8AC3E}">
        <p14:creationId xmlns:p14="http://schemas.microsoft.com/office/powerpoint/2010/main" val="170453211"/>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D8C806-12A5-42EB-9F5D-380A4970B7BB}"/>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1A052952-1F06-44AB-862D-23690E56591D}"/>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Write steps a technician can follow</a:t>
            </a:r>
          </a:p>
        </p:txBody>
      </p:sp>
      <p:sp>
        <p:nvSpPr>
          <p:cNvPr id="3" name="">
            <a:extLst xmlns:a="http://schemas.openxmlformats.org/drawingml/2006/main">
              <a:ext uri="{FF2B5EF4-FFF2-40B4-BE49-F238E27FC236}">
                <a16:creationId xmlns:a16="http://schemas.microsoft.com/office/drawing/2014/main" id="{C6661095-1A54-403E-A8F4-C8ADF05DC3C5}"/>
              </a:ext>
            </a:extLst>
          </p:cNvPr>
          <p:cNvSpPr>
            <a:spLocks xmlns:a="http://schemas.openxmlformats.org/drawingml/2006/main" noGrp="1"/>
          </p:cNvSpPr>
          <p:nvPr/>
        </p:nvSpPr>
        <p:spPr>
          <a:xfrm xmlns:a="http://schemas.openxmlformats.org/drawingml/2006/main">
            <a:off x="609600" y="2095500"/>
            <a:ext cx="108204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D40"/>
                </a:solidFill>
                <a:latin typeface="DejaVu Sans"/>
                <a:ea typeface="DejaVu Sans"/>
                <a:cs typeface="DejaVu Sans"/>
              </a:defRPr>
            </a:defPPr>
          </a:lstStyle>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Home → Numbering: one action per step.</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1. Confirm the approved cable and port.</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2. Inspect link indicators and network status.</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3. Test an approved lab destination.</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4. Record results; stop/escalate at the boundary.</a:t>
            </a:r>
          </a:p>
        </p:txBody>
      </p:sp>
      <p:sp>
        <p:nvSpPr>
          <p:cNvPr id="4" name="">
            <a:extLst xmlns:a="http://schemas.openxmlformats.org/drawingml/2006/main">
              <a:ext uri="{FF2B5EF4-FFF2-40B4-BE49-F238E27FC236}">
                <a16:creationId xmlns:a16="http://schemas.microsoft.com/office/drawing/2014/main" id="{16ECB86F-8608-4FA5-8F22-2D9EDB11F46B}"/>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14</a:t>
            </a:r>
          </a:p>
        </p:txBody>
      </p:sp>
    </p:spTree>
    <p:extLst>
      <p:ext uri="{BB962C8B-B14F-4D97-AF65-F5344CB8AC3E}">
        <p14:creationId xmlns:p14="http://schemas.microsoft.com/office/powerpoint/2010/main" val="2028861380"/>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86403E2-829C-45FA-B210-05C9AD9380B0}"/>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9E52069A-22FD-4B9B-B1F4-CDF41E77CEC6}"/>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Compare expected and actual results</a:t>
            </a:r>
          </a:p>
        </p:txBody>
      </p:sp>
      <p:sp>
        <p:nvSpPr>
          <p:cNvPr id="3" name="">
            <a:extLst xmlns:a="http://schemas.openxmlformats.org/drawingml/2006/main">
              <a:ext uri="{FF2B5EF4-FFF2-40B4-BE49-F238E27FC236}">
                <a16:creationId xmlns:a16="http://schemas.microsoft.com/office/drawing/2014/main" id="{F476BD25-1C6E-4BE3-9BB1-2FF88151D091}"/>
              </a:ext>
            </a:extLst>
          </p:cNvPr>
          <p:cNvSpPr>
            <a:spLocks xmlns:a="http://schemas.openxmlformats.org/drawingml/2006/main" noGrp="1"/>
          </p:cNvSpPr>
          <p:nvPr/>
        </p:nvSpPr>
        <p:spPr>
          <a:xfrm xmlns:a="http://schemas.openxmlformats.org/drawingml/2006/main">
            <a:off x="609600" y="2095500"/>
            <a:ext cx="108204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D40"/>
                </a:solidFill>
                <a:latin typeface="DejaVu Sans"/>
                <a:ea typeface="DejaVu Sans"/>
                <a:cs typeface="DejaVu Sans"/>
              </a:defRPr>
            </a:defPPr>
          </a:lstStyle>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Insert → Table: Test | Expected | Actual | Decision.</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Link light | On | Record observation | Pass/Hold.</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Approved test | Reachable | Record result | Validate.</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Do not write “works” without the evidence.</a:t>
            </a:r>
          </a:p>
        </p:txBody>
      </p:sp>
      <p:sp>
        <p:nvSpPr>
          <p:cNvPr id="4" name="">
            <a:extLst xmlns:a="http://schemas.openxmlformats.org/drawingml/2006/main">
              <a:ext uri="{FF2B5EF4-FFF2-40B4-BE49-F238E27FC236}">
                <a16:creationId xmlns:a16="http://schemas.microsoft.com/office/drawing/2014/main" id="{FF1C1E33-63B7-4933-9EB0-E22A38322B30}"/>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15</a:t>
            </a:r>
          </a:p>
        </p:txBody>
      </p:sp>
    </p:spTree>
    <p:extLst>
      <p:ext uri="{BB962C8B-B14F-4D97-AF65-F5344CB8AC3E}">
        <p14:creationId xmlns:p14="http://schemas.microsoft.com/office/powerpoint/2010/main" val="612911020"/>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0C3B40-68A8-416A-B4C1-F35E88514B4D}"/>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7A5DFCE0-D9CF-4E98-9C1C-D7CEDA7D7D6F}"/>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Validate, escalate, proofread and save</a:t>
            </a:r>
          </a:p>
        </p:txBody>
      </p:sp>
      <p:sp>
        <p:nvSpPr>
          <p:cNvPr id="3" name="">
            <a:extLst xmlns:a="http://schemas.openxmlformats.org/drawingml/2006/main">
              <a:ext uri="{FF2B5EF4-FFF2-40B4-BE49-F238E27FC236}">
                <a16:creationId xmlns:a16="http://schemas.microsoft.com/office/drawing/2014/main" id="{6307C248-81C9-4B00-8908-319EF337A126}"/>
              </a:ext>
            </a:extLst>
          </p:cNvPr>
          <p:cNvSpPr>
            <a:spLocks xmlns:a="http://schemas.openxmlformats.org/drawingml/2006/main" noGrp="1"/>
          </p:cNvSpPr>
          <p:nvPr/>
        </p:nvSpPr>
        <p:spPr>
          <a:xfrm xmlns:a="http://schemas.openxmlformats.org/drawingml/2006/main">
            <a:off x="609600" y="2095500"/>
            <a:ext cx="108204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D40"/>
                </a:solidFill>
                <a:latin typeface="DejaVu Sans"/>
                <a:ea typeface="DejaVu Sans"/>
                <a:cs typeface="DejaVu Sans"/>
              </a:defRPr>
            </a:defPPr>
          </a:lstStyle>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Retest the original symptom; record the outcome.</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Escalate when unsafe, unauthorized or unresolved.</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Review → Editor; check spelling and clarity.</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Review → Check Accessibility; fix findings.</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Save the editable Word source before export.</a:t>
            </a:r>
          </a:p>
        </p:txBody>
      </p:sp>
      <p:sp>
        <p:nvSpPr>
          <p:cNvPr id="4" name="">
            <a:extLst xmlns:a="http://schemas.openxmlformats.org/drawingml/2006/main">
              <a:ext uri="{FF2B5EF4-FFF2-40B4-BE49-F238E27FC236}">
                <a16:creationId xmlns:a16="http://schemas.microsoft.com/office/drawing/2014/main" id="{2F173B91-7128-4611-8919-887594FEEE0B}"/>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16</a:t>
            </a:r>
          </a:p>
        </p:txBody>
      </p:sp>
    </p:spTree>
    <p:extLst>
      <p:ext uri="{BB962C8B-B14F-4D97-AF65-F5344CB8AC3E}">
        <p14:creationId xmlns:p14="http://schemas.microsoft.com/office/powerpoint/2010/main" val="1871949753"/>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3D7499A-4D47-4814-AAFD-EFEAF6BFCD16}"/>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3CABEF70-86B2-4EE6-98F1-B6B8C8037907}"/>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Export Word to PDF</a:t>
            </a:r>
          </a:p>
        </p:txBody>
      </p:sp>
      <p:pic>
        <p:nvPicPr>
          <p:cNvPr id="3" name="">
            <a:extLst xmlns:a="http://schemas.openxmlformats.org/drawingml/2006/main">
              <a:ext uri="{FF2B5EF4-FFF2-40B4-BE49-F238E27FC236}">
                <a16:creationId xmlns:a16="http://schemas.microsoft.com/office/drawing/2014/main" id="{C30D5B7B-20AE-4735-8001-9FAF54C32266}"/>
              </a:ext>
            </a:extLst>
          </p:cNvPr>
          <p:cNvPicPr>
            <a:picLocks xmlns:a="http://schemas.openxmlformats.org/drawingml/2006/main" noChangeAspect="1"/>
          </p:cNvPicPr>
          <p:nvPr/>
        </p:nvPicPr>
        <p:blipFill>
          <a:blip xmlns:r="http://schemas.openxmlformats.org/officeDocument/2006/relationships" xmlns:a="http://schemas.openxmlformats.org/drawingml/2006/main" r:embed="R8ed7427d9be64946"/>
          <a:stretch xmlns:a="http://schemas.openxmlformats.org/drawingml/2006/main"/>
        </p:blipFill>
        <p:spPr>
          <a:xfrm xmlns:a="http://schemas.openxmlformats.org/drawingml/2006/main">
            <a:off x="948690" y="1943100"/>
            <a:ext cx="6675120"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E3743AC-BC38-4AB9-97F5-FFD6C6FFAA44}"/>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Word for the web: File → Export → Download as PDF.</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Desktop Word: File → Save As/Export → PDF.</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Name it knowledge-base-article.pdf.</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Save to your known CIT-205 portfolio folder.</a:t>
            </a:r>
          </a:p>
        </p:txBody>
      </p:sp>
      <p:sp>
        <p:nvSpPr>
          <p:cNvPr id="5" name="">
            <a:extLst xmlns:a="http://schemas.openxmlformats.org/drawingml/2006/main">
              <a:ext uri="{FF2B5EF4-FFF2-40B4-BE49-F238E27FC236}">
                <a16:creationId xmlns:a16="http://schemas.microsoft.com/office/drawing/2014/main" id="{BB7AA5C8-6375-4B04-A56D-F85528A1FDAC}"/>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446014B7-10ED-4483-8D83-F3DEFF71391F}"/>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17</a:t>
            </a:r>
          </a:p>
        </p:txBody>
      </p:sp>
    </p:spTree>
    <p:extLst>
      <p:ext uri="{BB962C8B-B14F-4D97-AF65-F5344CB8AC3E}">
        <p14:creationId xmlns:p14="http://schemas.microsoft.com/office/powerpoint/2010/main" val="1270974943"/>
      </p:ext>
    </p:extLst>
  </p:cSld>
</p:sld>
</file>

<file path=ppt/slides/slide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353DBE-32CC-4474-8F29-01B837ECCA71}"/>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8BA99652-EB0E-4A57-AB0B-D9DFA7419119}"/>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Open the PDF before publishing</a:t>
            </a:r>
          </a:p>
        </p:txBody>
      </p:sp>
      <p:pic>
        <p:nvPicPr>
          <p:cNvPr id="3" name="">
            <a:extLst xmlns:a="http://schemas.openxmlformats.org/drawingml/2006/main">
              <a:ext uri="{FF2B5EF4-FFF2-40B4-BE49-F238E27FC236}">
                <a16:creationId xmlns:a16="http://schemas.microsoft.com/office/drawing/2014/main" id="{D4882B93-BDA9-4176-950D-270EB1E49D2D}"/>
              </a:ext>
            </a:extLst>
          </p:cNvPr>
          <p:cNvPicPr>
            <a:picLocks xmlns:a="http://schemas.openxmlformats.org/drawingml/2006/main" noChangeAspect="1"/>
          </p:cNvPicPr>
          <p:nvPr/>
        </p:nvPicPr>
        <p:blipFill>
          <a:blip xmlns:r="http://schemas.openxmlformats.org/officeDocument/2006/relationships" xmlns:a="http://schemas.openxmlformats.org/drawingml/2006/main" r:embed="R5ffb8a5e4f2b4d6f"/>
          <a:stretch xmlns:a="http://schemas.openxmlformats.org/drawingml/2006/main"/>
        </p:blipFill>
        <p:spPr>
          <a:xfrm xmlns:a="http://schemas.openxmlformats.org/drawingml/2006/main">
            <a:off x="1248660" y="1943100"/>
            <a:ext cx="6075179"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89A6131-51E7-4A12-A66B-BB52BC6D7FF7}"/>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Download complete → open the saved PDF.</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Check every page, table and page break.</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Confirm selectable, readable text and no comments.</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Inspect for sensitive information inside the file.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Redact in Word, export again, then recheck.</a:t>
            </a:r>
          </a:p>
        </p:txBody>
      </p:sp>
      <p:sp>
        <p:nvSpPr>
          <p:cNvPr id="5" name="">
            <a:extLst xmlns:a="http://schemas.openxmlformats.org/drawingml/2006/main">
              <a:ext uri="{FF2B5EF4-FFF2-40B4-BE49-F238E27FC236}">
                <a16:creationId xmlns:a16="http://schemas.microsoft.com/office/drawing/2014/main" id="{680D6B60-F85C-4CD4-B319-4ACDBEA3BB26}"/>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D2D30C57-D307-47BE-A6D2-2EC31604DD4D}"/>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18</a:t>
            </a:r>
          </a:p>
        </p:txBody>
      </p:sp>
    </p:spTree>
    <p:extLst>
      <p:ext uri="{BB962C8B-B14F-4D97-AF65-F5344CB8AC3E}">
        <p14:creationId xmlns:p14="http://schemas.microsoft.com/office/powerpoint/2010/main" val="667127046"/>
      </p:ext>
    </p:extLst>
  </p:cSld>
</p:sld>
</file>

<file path=ppt/slides/slide1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5C30F8-D652-40B2-8B78-955E5AF803A1}"/>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46B72561-34C9-4CBF-8F97-736838B74B48}"/>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Use the actual GitHub template</a:t>
            </a:r>
          </a:p>
        </p:txBody>
      </p:sp>
      <p:pic>
        <p:nvPicPr>
          <p:cNvPr id="3" name="">
            <a:extLst xmlns:a="http://schemas.openxmlformats.org/drawingml/2006/main">
              <a:ext uri="{FF2B5EF4-FFF2-40B4-BE49-F238E27FC236}">
                <a16:creationId xmlns:a16="http://schemas.microsoft.com/office/drawing/2014/main" id="{48746AC5-80F7-4563-BECC-D8EFB39CEAD4}"/>
              </a:ext>
            </a:extLst>
          </p:cNvPr>
          <p:cNvPicPr>
            <a:picLocks xmlns:a="http://schemas.openxmlformats.org/drawingml/2006/main" noChangeAspect="1"/>
          </p:cNvPicPr>
          <p:nvPr/>
        </p:nvPicPr>
        <p:blipFill>
          <a:blip xmlns:r="http://schemas.openxmlformats.org/officeDocument/2006/relationships" xmlns:a="http://schemas.openxmlformats.org/drawingml/2006/main" r:embed="R3b5f04d32c73402d"/>
          <a:stretch xmlns:a="http://schemas.openxmlformats.org/drawingml/2006/main"/>
        </p:blipFill>
        <p:spPr>
          <a:xfrm xmlns:a="http://schemas.openxmlformats.org/drawingml/2006/main">
            <a:off x="457200" y="2114550"/>
            <a:ext cx="7658100" cy="3829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93DDEA1-6935-4784-88A7-315BA76DCD91}"/>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Sign in → open cit205-portfolio-template.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Use this template → Create a new repository.</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Do not fork the classroom for this portfolio.</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Already started? Preserve your existing repository.</a:t>
            </a:r>
          </a:p>
        </p:txBody>
      </p:sp>
      <p:sp>
        <p:nvSpPr>
          <p:cNvPr id="5" name="">
            <a:extLst xmlns:a="http://schemas.openxmlformats.org/drawingml/2006/main">
              <a:ext uri="{FF2B5EF4-FFF2-40B4-BE49-F238E27FC236}">
                <a16:creationId xmlns:a16="http://schemas.microsoft.com/office/drawing/2014/main" id="{AAA6B1C1-5D47-4615-BFA3-7DDF8DBC2E2C}"/>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7C8EAEFA-BD4C-49F1-868E-B4D2CE570023}"/>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143ec0cc2f0f4cce"/>
              </a:rPr>
              <a:t>Use this template ↗</a:t>
            </a:r>
          </a:p>
        </p:txBody>
      </p:sp>
      <p:sp>
        <p:nvSpPr>
          <p:cNvPr id="7" name="">
            <a:extLst xmlns:a="http://schemas.openxmlformats.org/drawingml/2006/main">
              <a:ext uri="{FF2B5EF4-FFF2-40B4-BE49-F238E27FC236}">
                <a16:creationId xmlns:a16="http://schemas.microsoft.com/office/drawing/2014/main" id="{F6DC3C4F-E453-48CB-8883-48EEDAFB3958}"/>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19</a:t>
            </a:r>
          </a:p>
        </p:txBody>
      </p:sp>
    </p:spTree>
    <p:extLst>
      <p:ext uri="{BB962C8B-B14F-4D97-AF65-F5344CB8AC3E}">
        <p14:creationId xmlns:p14="http://schemas.microsoft.com/office/powerpoint/2010/main" val="1442606963"/>
      </p:ext>
    </p:extLst>
  </p:cSld>
</p:sld>
</file>

<file path=ppt/slides/slide2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8AC8A9-B36E-4909-824E-6FBE1EACB6E3}"/>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54FE4B08-060B-46EB-BC95-C8C16993298A}"/>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Create your student-owned repository</a:t>
            </a:r>
          </a:p>
        </p:txBody>
      </p:sp>
      <p:pic>
        <p:nvPicPr>
          <p:cNvPr id="3" name="">
            <a:extLst xmlns:a="http://schemas.openxmlformats.org/drawingml/2006/main">
              <a:ext uri="{FF2B5EF4-FFF2-40B4-BE49-F238E27FC236}">
                <a16:creationId xmlns:a16="http://schemas.microsoft.com/office/drawing/2014/main" id="{F76306FF-07E7-4134-9D00-F7393E78F79F}"/>
              </a:ext>
            </a:extLst>
          </p:cNvPr>
          <p:cNvPicPr>
            <a:picLocks xmlns:a="http://schemas.openxmlformats.org/drawingml/2006/main" noChangeAspect="1"/>
          </p:cNvPicPr>
          <p:nvPr/>
        </p:nvPicPr>
        <p:blipFill>
          <a:blip xmlns:r="http://schemas.openxmlformats.org/officeDocument/2006/relationships" xmlns:a="http://schemas.openxmlformats.org/drawingml/2006/main" r:embed="Rebbc73ae8dbb4c88"/>
          <a:stretch xmlns:a="http://schemas.openxmlformats.org/drawingml/2006/main"/>
        </p:blipFill>
        <p:spPr>
          <a:xfrm xmlns:a="http://schemas.openxmlformats.org/drawingml/2006/main">
            <a:off x="1249647" y="1943100"/>
            <a:ext cx="6073206"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F4AC09-700C-4D78-876C-9D564CF6764C}"/>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Owner: YOUR personal account.</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Name: USERNAME.github.io, exact GitHub username.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Visibility: Public. Leave all branches unchecked.</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Create repository; starter files appear automatically.</a:t>
            </a:r>
          </a:p>
        </p:txBody>
      </p:sp>
      <p:sp>
        <p:nvSpPr>
          <p:cNvPr id="5" name="">
            <a:extLst xmlns:a="http://schemas.openxmlformats.org/drawingml/2006/main">
              <a:ext uri="{FF2B5EF4-FFF2-40B4-BE49-F238E27FC236}">
                <a16:creationId xmlns:a16="http://schemas.microsoft.com/office/drawing/2014/main" id="{5ADFF8F3-D313-4198-9769-5F85B1A442B9}"/>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FF8EE4E1-B70A-4CCB-98C4-8812961DD158}"/>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80451e3c38d44f9e"/>
              </a:rPr>
              <a:t>Open creation form ↗</a:t>
            </a:r>
          </a:p>
        </p:txBody>
      </p:sp>
      <p:sp>
        <p:nvSpPr>
          <p:cNvPr id="7" name="">
            <a:extLst xmlns:a="http://schemas.openxmlformats.org/drawingml/2006/main">
              <a:ext uri="{FF2B5EF4-FFF2-40B4-BE49-F238E27FC236}">
                <a16:creationId xmlns:a16="http://schemas.microsoft.com/office/drawing/2014/main" id="{9BB07243-0082-404D-B2E2-2EC632F51224}"/>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20</a:t>
            </a:r>
          </a:p>
        </p:txBody>
      </p:sp>
    </p:spTree>
    <p:extLst>
      <p:ext uri="{BB962C8B-B14F-4D97-AF65-F5344CB8AC3E}">
        <p14:creationId xmlns:p14="http://schemas.microsoft.com/office/powerpoint/2010/main" val="247131640"/>
      </p:ext>
    </p:extLst>
  </p:cSld>
</p:sld>
</file>

<file path=ppt/slides/slide2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0AB3BC-9116-40DE-AB45-BE2A63F7ADA9}"/>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12F183AC-E668-43B4-8B00-B14DC8B134C1}"/>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Find the files you will actually edit</a:t>
            </a:r>
          </a:p>
        </p:txBody>
      </p:sp>
      <p:pic>
        <p:nvPicPr>
          <p:cNvPr id="3" name="">
            <a:extLst xmlns:a="http://schemas.openxmlformats.org/drawingml/2006/main">
              <a:ext uri="{FF2B5EF4-FFF2-40B4-BE49-F238E27FC236}">
                <a16:creationId xmlns:a16="http://schemas.microsoft.com/office/drawing/2014/main" id="{D08563DA-BD5D-4105-ADD8-4FB9E7815DDB}"/>
              </a:ext>
            </a:extLst>
          </p:cNvPr>
          <p:cNvPicPr>
            <a:picLocks xmlns:a="http://schemas.openxmlformats.org/drawingml/2006/main" noChangeAspect="1"/>
          </p:cNvPicPr>
          <p:nvPr/>
        </p:nvPicPr>
        <p:blipFill>
          <a:blip xmlns:r="http://schemas.openxmlformats.org/officeDocument/2006/relationships" xmlns:a="http://schemas.openxmlformats.org/drawingml/2006/main" r:embed="R142db40c65314ffa"/>
          <a:stretch xmlns:a="http://schemas.openxmlformats.org/drawingml/2006/main"/>
        </p:blipFill>
        <p:spPr>
          <a:xfrm xmlns:a="http://schemas.openxmlformats.org/drawingml/2006/main">
            <a:off x="1249647" y="1943100"/>
            <a:ext cx="6073206"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546E373-7C18-42E0-B870-E3E2082944CE}"/>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index.html: identity, sections and artifact links.</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style.css: existing responsive appearance.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artifacts/: PDFs and filename guide.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Do not rebuild or delete the starter structure.</a:t>
            </a:r>
          </a:p>
        </p:txBody>
      </p:sp>
      <p:sp>
        <p:nvSpPr>
          <p:cNvPr id="5" name="">
            <a:extLst xmlns:a="http://schemas.openxmlformats.org/drawingml/2006/main">
              <a:ext uri="{FF2B5EF4-FFF2-40B4-BE49-F238E27FC236}">
                <a16:creationId xmlns:a16="http://schemas.microsoft.com/office/drawing/2014/main" id="{E24EE763-66FB-44B4-BE66-B6D706193069}"/>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062D87D9-A8EC-436D-802F-7783ABB81EE4}"/>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bfd7e0e9814b40ee"/>
              </a:rPr>
              <a:t>Inspect template files ↗</a:t>
            </a:r>
          </a:p>
        </p:txBody>
      </p:sp>
      <p:sp>
        <p:nvSpPr>
          <p:cNvPr id="7" name="">
            <a:extLst xmlns:a="http://schemas.openxmlformats.org/drawingml/2006/main">
              <a:ext uri="{FF2B5EF4-FFF2-40B4-BE49-F238E27FC236}">
                <a16:creationId xmlns:a16="http://schemas.microsoft.com/office/drawing/2014/main" id="{D3C6FBCD-9DBF-42E6-84E1-AD265260212B}"/>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21</a:t>
            </a:r>
          </a:p>
        </p:txBody>
      </p:sp>
    </p:spTree>
    <p:extLst>
      <p:ext uri="{BB962C8B-B14F-4D97-AF65-F5344CB8AC3E}">
        <p14:creationId xmlns:p14="http://schemas.microsoft.com/office/powerpoint/2010/main" val="1113248561"/>
      </p:ext>
    </p:extLst>
  </p:cSld>
</p:sld>
</file>

<file path=ppt/slides/slide2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435D81-CB0E-44F2-8D7B-9215ED985B1C}"/>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6E4EB270-343B-4F9D-9FBD-5D8E4B1F0092}"/>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Personalize index.html</a:t>
            </a:r>
          </a:p>
        </p:txBody>
      </p:sp>
      <p:pic>
        <p:nvPicPr>
          <p:cNvPr id="3" name="">
            <a:extLst xmlns:a="http://schemas.openxmlformats.org/drawingml/2006/main">
              <a:ext uri="{FF2B5EF4-FFF2-40B4-BE49-F238E27FC236}">
                <a16:creationId xmlns:a16="http://schemas.microsoft.com/office/drawing/2014/main" id="{302AE036-06E4-42F4-8BAE-35A2D0F36150}"/>
              </a:ext>
            </a:extLst>
          </p:cNvPr>
          <p:cNvPicPr>
            <a:picLocks xmlns:a="http://schemas.openxmlformats.org/drawingml/2006/main" noChangeAspect="1"/>
          </p:cNvPicPr>
          <p:nvPr/>
        </p:nvPicPr>
        <p:blipFill>
          <a:blip xmlns:r="http://schemas.openxmlformats.org/officeDocument/2006/relationships" xmlns:a="http://schemas.openxmlformats.org/drawingml/2006/main" r:embed="Rb80808ed3839473b"/>
          <a:stretch xmlns:a="http://schemas.openxmlformats.org/drawingml/2006/main"/>
        </p:blipFill>
        <p:spPr>
          <a:xfrm xmlns:a="http://schemas.openxmlformats.org/drawingml/2006/main">
            <a:off x="457200" y="1958694"/>
            <a:ext cx="7658100" cy="414076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CCEBBAC-8EA0-402C-8350-323D50C8326E}"/>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Open index.html → pencil / Edit this file.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Replace YOUR NAME, intro and placeholder profile links.</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Describe context, your action, evidence and result.</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Keep incomplete PDF links hidden.</a:t>
            </a:r>
          </a:p>
        </p:txBody>
      </p:sp>
      <p:sp>
        <p:nvSpPr>
          <p:cNvPr id="5" name="">
            <a:extLst xmlns:a="http://schemas.openxmlformats.org/drawingml/2006/main">
              <a:ext uri="{FF2B5EF4-FFF2-40B4-BE49-F238E27FC236}">
                <a16:creationId xmlns:a16="http://schemas.microsoft.com/office/drawing/2014/main" id="{B72076EF-B76B-4B4D-BA1C-63A0ECEC1A5D}"/>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A1630701-C262-4BB9-9A39-18C03BA17B00}"/>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22</a:t>
            </a:r>
          </a:p>
        </p:txBody>
      </p:sp>
    </p:spTree>
    <p:extLst>
      <p:ext uri="{BB962C8B-B14F-4D97-AF65-F5344CB8AC3E}">
        <p14:creationId xmlns:p14="http://schemas.microsoft.com/office/powerpoint/2010/main" val="278995640"/>
      </p:ext>
    </p:extLst>
  </p:cSld>
</p:sld>
</file>

<file path=ppt/slides/slide2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54367C-EBC7-49A5-8873-B0DE6BF35B83}"/>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B41C2BE2-EB65-4C03-8C10-85C48BDC1DD3}"/>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Commit changes with a useful message</a:t>
            </a:r>
          </a:p>
        </p:txBody>
      </p:sp>
      <p:pic>
        <p:nvPicPr>
          <p:cNvPr id="3" name="">
            <a:extLst xmlns:a="http://schemas.openxmlformats.org/drawingml/2006/main">
              <a:ext uri="{FF2B5EF4-FFF2-40B4-BE49-F238E27FC236}">
                <a16:creationId xmlns:a16="http://schemas.microsoft.com/office/drawing/2014/main" id="{7788EBD4-7950-4299-A40B-46A5D8688397}"/>
              </a:ext>
            </a:extLst>
          </p:cNvPr>
          <p:cNvPicPr>
            <a:picLocks xmlns:a="http://schemas.openxmlformats.org/drawingml/2006/main" noChangeAspect="1"/>
          </p:cNvPicPr>
          <p:nvPr/>
        </p:nvPicPr>
        <p:blipFill>
          <a:blip xmlns:r="http://schemas.openxmlformats.org/officeDocument/2006/relationships" xmlns:a="http://schemas.openxmlformats.org/drawingml/2006/main" r:embed="Raaa069060ed74e13"/>
          <a:stretch xmlns:a="http://schemas.openxmlformats.org/drawingml/2006/main"/>
        </p:blipFill>
        <p:spPr>
          <a:xfrm xmlns:a="http://schemas.openxmlformats.org/drawingml/2006/main">
            <a:off x="513089" y="1943100"/>
            <a:ext cx="7546321"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0597E37-B73B-4339-88F3-319C69853310}"/>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Commit changes → describe what changed.</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Example: Personalize portfolio introduction.</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Commit directly to main for this personal site.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Confirm the commit and reopen the saved file.</a:t>
            </a:r>
          </a:p>
        </p:txBody>
      </p:sp>
      <p:sp>
        <p:nvSpPr>
          <p:cNvPr id="5" name="">
            <a:extLst xmlns:a="http://schemas.openxmlformats.org/drawingml/2006/main">
              <a:ext uri="{FF2B5EF4-FFF2-40B4-BE49-F238E27FC236}">
                <a16:creationId xmlns:a16="http://schemas.microsoft.com/office/drawing/2014/main" id="{126D7EFE-3C3A-444D-B943-A2DA07C44C25}"/>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63C5D35B-7843-4951-84BA-29A597239023}"/>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23</a:t>
            </a:r>
          </a:p>
        </p:txBody>
      </p:sp>
    </p:spTree>
    <p:extLst>
      <p:ext uri="{BB962C8B-B14F-4D97-AF65-F5344CB8AC3E}">
        <p14:creationId xmlns:p14="http://schemas.microsoft.com/office/powerpoint/2010/main" val="1788184176"/>
      </p:ext>
    </p:extLst>
  </p:cSld>
</p:sld>
</file>

<file path=ppt/slides/slide2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4AAD1E-F6A8-4FE4-ABE9-EAA173BB9E90}"/>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9CC2AD3B-F637-40DB-B6E5-A3DA64B5E6A8}"/>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Upload your first real PDF</a:t>
            </a:r>
          </a:p>
        </p:txBody>
      </p:sp>
      <p:pic>
        <p:nvPicPr>
          <p:cNvPr id="3" name="">
            <a:extLst xmlns:a="http://schemas.openxmlformats.org/drawingml/2006/main">
              <a:ext uri="{FF2B5EF4-FFF2-40B4-BE49-F238E27FC236}">
                <a16:creationId xmlns:a16="http://schemas.microsoft.com/office/drawing/2014/main" id="{04EA985D-5678-466D-B602-07F4E6A79645}"/>
              </a:ext>
            </a:extLst>
          </p:cNvPr>
          <p:cNvPicPr>
            <a:picLocks xmlns:a="http://schemas.openxmlformats.org/drawingml/2006/main" noChangeAspect="1"/>
          </p:cNvPicPr>
          <p:nvPr/>
        </p:nvPicPr>
        <p:blipFill>
          <a:blip xmlns:r="http://schemas.openxmlformats.org/officeDocument/2006/relationships" xmlns:a="http://schemas.openxmlformats.org/drawingml/2006/main" r:embed="R8afffb8def3f4399"/>
          <a:stretch xmlns:a="http://schemas.openxmlformats.org/drawingml/2006/main"/>
        </p:blipFill>
        <p:spPr>
          <a:xfrm xmlns:a="http://schemas.openxmlformats.org/drawingml/2006/main">
            <a:off x="457200" y="2617355"/>
            <a:ext cx="7658100" cy="282344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42A52D7-2FFB-4D70-9ED2-18E73CB1AC76}"/>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Open artifacts/ → Add file → Upload files.</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Select knowledge-base-article.pdf.</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Verify the filename and location.</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Commit: Add reviewed knowledge base PDF.</a:t>
            </a:r>
          </a:p>
        </p:txBody>
      </p:sp>
      <p:sp>
        <p:nvSpPr>
          <p:cNvPr id="5" name="">
            <a:extLst xmlns:a="http://schemas.openxmlformats.org/drawingml/2006/main">
              <a:ext uri="{FF2B5EF4-FFF2-40B4-BE49-F238E27FC236}">
                <a16:creationId xmlns:a16="http://schemas.microsoft.com/office/drawing/2014/main" id="{7D4B47A5-9E0B-4873-AE8D-1CA31F674D42}"/>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34EE2D1D-A205-42F9-BE82-501C5C84EBCC}"/>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24</a:t>
            </a:r>
          </a:p>
        </p:txBody>
      </p:sp>
    </p:spTree>
    <p:extLst>
      <p:ext uri="{BB962C8B-B14F-4D97-AF65-F5344CB8AC3E}">
        <p14:creationId xmlns:p14="http://schemas.microsoft.com/office/powerpoint/2010/main" val="667910075"/>
      </p:ext>
    </p:extLst>
  </p:cSld>
</p:sld>
</file>

<file path=ppt/slides/slide2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5F7040-018C-4C5B-9BFD-5777600A6B87}"/>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4642C126-483F-49DB-AF77-A99D716C7965}"/>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Make the matching artifact link visible</a:t>
            </a:r>
          </a:p>
        </p:txBody>
      </p:sp>
      <p:pic>
        <p:nvPicPr>
          <p:cNvPr id="3" name="">
            <a:extLst xmlns:a="http://schemas.openxmlformats.org/drawingml/2006/main">
              <a:ext uri="{FF2B5EF4-FFF2-40B4-BE49-F238E27FC236}">
                <a16:creationId xmlns:a16="http://schemas.microsoft.com/office/drawing/2014/main" id="{063A332D-E3ED-43CA-8C60-6629B16056AA}"/>
              </a:ext>
            </a:extLst>
          </p:cNvPr>
          <p:cNvPicPr>
            <a:picLocks xmlns:a="http://schemas.openxmlformats.org/drawingml/2006/main" noChangeAspect="1"/>
          </p:cNvPicPr>
          <p:nvPr/>
        </p:nvPicPr>
        <p:blipFill>
          <a:blip xmlns:r="http://schemas.openxmlformats.org/officeDocument/2006/relationships" xmlns:a="http://schemas.openxmlformats.org/drawingml/2006/main" r:embed="Rb321513dbb254d38"/>
          <a:stretch xmlns:a="http://schemas.openxmlformats.org/drawingml/2006/main"/>
        </p:blipFill>
        <p:spPr>
          <a:xfrm xmlns:a="http://schemas.openxmlformats.org/drawingml/2006/main">
            <a:off x="457200" y="1958694"/>
            <a:ext cx="7658100" cy="414076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BBF238F-E90C-4AE8-ACBB-93AAC9698B89}"/>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In index.html find Knowledge Base Article.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Remove hidden only after the PDF exists.</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Keep href="artifacts/knowledge-base-article.pdf".</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Commit: Link completed knowledge base evidence.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Test the live PDF after deployment.</a:t>
            </a:r>
          </a:p>
        </p:txBody>
      </p:sp>
      <p:sp>
        <p:nvSpPr>
          <p:cNvPr id="5" name="">
            <a:extLst xmlns:a="http://schemas.openxmlformats.org/drawingml/2006/main">
              <a:ext uri="{FF2B5EF4-FFF2-40B4-BE49-F238E27FC236}">
                <a16:creationId xmlns:a16="http://schemas.microsoft.com/office/drawing/2014/main" id="{6489631D-C44A-475D-A068-6B052BB90E42}"/>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21273390-888E-4D2B-8ED0-1773531ACB2D}"/>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1d6e24de40174895"/>
              </a:rPr>
              <a:t>Open artifact filename guide ↗</a:t>
            </a:r>
          </a:p>
        </p:txBody>
      </p:sp>
      <p:sp>
        <p:nvSpPr>
          <p:cNvPr id="7" name="">
            <a:extLst xmlns:a="http://schemas.openxmlformats.org/drawingml/2006/main">
              <a:ext uri="{FF2B5EF4-FFF2-40B4-BE49-F238E27FC236}">
                <a16:creationId xmlns:a16="http://schemas.microsoft.com/office/drawing/2014/main" id="{A4EE05DD-FD6B-453D-95DF-674571C5416E}"/>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25</a:t>
            </a:r>
          </a:p>
        </p:txBody>
      </p:sp>
    </p:spTree>
    <p:extLst>
      <p:ext uri="{BB962C8B-B14F-4D97-AF65-F5344CB8AC3E}">
        <p14:creationId xmlns:p14="http://schemas.microsoft.com/office/powerpoint/2010/main" val="262951813"/>
      </p:ext>
    </p:extLst>
  </p:cSld>
</p:sld>
</file>

<file path=ppt/slides/slide2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ACA0AA-A012-4894-86CD-31D2C1A02A9C}"/>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FB665288-AF8C-4552-9621-4E223EC97A3A}"/>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A filename is part of the link</a:t>
            </a:r>
          </a:p>
        </p:txBody>
      </p:sp>
      <p:sp>
        <p:nvSpPr>
          <p:cNvPr id="3" name="">
            <a:extLst xmlns:a="http://schemas.openxmlformats.org/drawingml/2006/main">
              <a:ext uri="{FF2B5EF4-FFF2-40B4-BE49-F238E27FC236}">
                <a16:creationId xmlns:a16="http://schemas.microsoft.com/office/drawing/2014/main" id="{769C5738-FFE9-4989-9C11-C33E256AA32C}"/>
              </a:ext>
            </a:extLst>
          </p:cNvPr>
          <p:cNvSpPr>
            <a:spLocks xmlns:a="http://schemas.openxmlformats.org/drawingml/2006/main" noGrp="1"/>
          </p:cNvSpPr>
          <p:nvPr/>
        </p:nvSpPr>
        <p:spPr>
          <a:xfrm xmlns:a="http://schemas.openxmlformats.org/drawingml/2006/main">
            <a:off x="609600" y="2095500"/>
            <a:ext cx="108204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D40"/>
                </a:solidFill>
                <a:latin typeface="DejaVu Sans"/>
                <a:ea typeface="DejaVu Sans"/>
                <a:cs typeface="DejaVu Sans"/>
              </a:defRPr>
            </a:defPPr>
          </a:lstStyle>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knowledge-base-article.pdf ≠ Knowledge-Base-Article.PDF</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Keep lowercase names and hyphens.</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Match folder, spelling, capitalization and extension.</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No local C:\Users path; no Downloads path.</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A relative URL points inside the published site.</a:t>
            </a:r>
          </a:p>
        </p:txBody>
      </p:sp>
      <p:sp>
        <p:nvSpPr>
          <p:cNvPr id="4" name="">
            <a:extLst xmlns:a="http://schemas.openxmlformats.org/drawingml/2006/main">
              <a:ext uri="{FF2B5EF4-FFF2-40B4-BE49-F238E27FC236}">
                <a16:creationId xmlns:a16="http://schemas.microsoft.com/office/drawing/2014/main" id="{F257CDC0-6681-4B6E-BD78-88E74AABB462}"/>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26</a:t>
            </a:r>
          </a:p>
        </p:txBody>
      </p:sp>
    </p:spTree>
    <p:extLst>
      <p:ext uri="{BB962C8B-B14F-4D97-AF65-F5344CB8AC3E}">
        <p14:creationId xmlns:p14="http://schemas.microsoft.com/office/powerpoint/2010/main" val="1463729150"/>
      </p:ext>
    </p:extLst>
  </p:cSld>
</p:sld>
</file>

<file path=ppt/slides/slide2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1CFC5B-2EC2-4745-901E-FC312C5FB8C0}"/>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74C2FC6A-F368-448C-88DD-07C81A6207F3}"/>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Publish with GitHub Pages</a:t>
            </a:r>
          </a:p>
        </p:txBody>
      </p:sp>
      <p:pic>
        <p:nvPicPr>
          <p:cNvPr id="3" name="">
            <a:extLst xmlns:a="http://schemas.openxmlformats.org/drawingml/2006/main">
              <a:ext uri="{FF2B5EF4-FFF2-40B4-BE49-F238E27FC236}">
                <a16:creationId xmlns:a16="http://schemas.microsoft.com/office/drawing/2014/main" id="{44A46FC8-7E24-443C-AECF-D5FB2120CEAC}"/>
              </a:ext>
            </a:extLst>
          </p:cNvPr>
          <p:cNvPicPr>
            <a:picLocks xmlns:a="http://schemas.openxmlformats.org/drawingml/2006/main" noChangeAspect="1"/>
          </p:cNvPicPr>
          <p:nvPr/>
        </p:nvPicPr>
        <p:blipFill>
          <a:blip xmlns:r="http://schemas.openxmlformats.org/officeDocument/2006/relationships" xmlns:a="http://schemas.openxmlformats.org/drawingml/2006/main" r:embed="Rfc3f7b04ce9d4fb5"/>
          <a:stretch xmlns:a="http://schemas.openxmlformats.org/drawingml/2006/main"/>
        </p:blipFill>
        <p:spPr>
          <a:xfrm xmlns:a="http://schemas.openxmlformats.org/drawingml/2006/main">
            <a:off x="491762" y="1943100"/>
            <a:ext cx="7588976"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D12B7F2-556D-4582-97B2-6DEB4D725CCE}"/>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Your repository → Settings → Pages.</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Source: Deploy from a branch.</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Branch: main. Folder: /(root).</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Save; wait for successful deployment.</a:t>
            </a:r>
          </a:p>
        </p:txBody>
      </p:sp>
      <p:sp>
        <p:nvSpPr>
          <p:cNvPr id="5" name="">
            <a:extLst xmlns:a="http://schemas.openxmlformats.org/drawingml/2006/main">
              <a:ext uri="{FF2B5EF4-FFF2-40B4-BE49-F238E27FC236}">
                <a16:creationId xmlns:a16="http://schemas.microsoft.com/office/drawing/2014/main" id="{57FB387C-BC3C-44A3-86EB-2E8249F557B9}"/>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F30D8995-6240-4386-B0B1-B40FA577999A}"/>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6c40eb74cdca4d52"/>
              </a:rPr>
              <a:t>GitHub Pages documentation ↗</a:t>
            </a:r>
          </a:p>
        </p:txBody>
      </p:sp>
      <p:sp>
        <p:nvSpPr>
          <p:cNvPr id="7" name="">
            <a:extLst xmlns:a="http://schemas.openxmlformats.org/drawingml/2006/main">
              <a:ext uri="{FF2B5EF4-FFF2-40B4-BE49-F238E27FC236}">
                <a16:creationId xmlns:a16="http://schemas.microsoft.com/office/drawing/2014/main" id="{55A20CC5-4BBC-4209-88E5-4C1BCA1BADEF}"/>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27</a:t>
            </a:r>
          </a:p>
        </p:txBody>
      </p:sp>
    </p:spTree>
    <p:extLst>
      <p:ext uri="{BB962C8B-B14F-4D97-AF65-F5344CB8AC3E}">
        <p14:creationId xmlns:p14="http://schemas.microsoft.com/office/powerpoint/2010/main" val="129414590"/>
      </p:ext>
    </p:extLst>
  </p:cSld>
</p:sld>
</file>

<file path=ppt/slides/slide2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36F28A-1F30-4EE4-98F7-C983A17E8DB6}"/>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A48281E9-6B96-496A-80D8-C44BF7847F03}"/>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Know which URL you are testing</a:t>
            </a:r>
          </a:p>
        </p:txBody>
      </p:sp>
      <p:sp>
        <p:nvSpPr>
          <p:cNvPr id="3" name="">
            <a:extLst xmlns:a="http://schemas.openxmlformats.org/drawingml/2006/main">
              <a:ext uri="{FF2B5EF4-FFF2-40B4-BE49-F238E27FC236}">
                <a16:creationId xmlns:a16="http://schemas.microsoft.com/office/drawing/2014/main" id="{5809EC5C-FF9B-4B36-A910-244EEF063766}"/>
              </a:ext>
            </a:extLst>
          </p:cNvPr>
          <p:cNvSpPr>
            <a:spLocks xmlns:a="http://schemas.openxmlformats.org/drawingml/2006/main" noGrp="1"/>
          </p:cNvSpPr>
          <p:nvPr/>
        </p:nvSpPr>
        <p:spPr>
          <a:xfrm xmlns:a="http://schemas.openxmlformats.org/drawingml/2006/main">
            <a:off x="609600" y="2095500"/>
            <a:ext cx="108204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D40"/>
                </a:solidFill>
                <a:latin typeface="DejaVu Sans"/>
                <a:ea typeface="DejaVu Sans"/>
                <a:cs typeface="DejaVu Sans"/>
              </a:defRPr>
            </a:defPPr>
          </a:lstStyle>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Repository: github.com/USERNAME/USERNAME.github.io</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Website: https://USERNAME.github.io/</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PDF: https://USERNAME.github.io/artifacts/knowledge-base-article.pdf</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The live website is not GitHub’s HTML code view.</a:t>
            </a:r>
          </a:p>
        </p:txBody>
      </p:sp>
      <p:sp>
        <p:nvSpPr>
          <p:cNvPr id="4" name="">
            <a:extLst xmlns:a="http://schemas.openxmlformats.org/drawingml/2006/main">
              <a:ext uri="{FF2B5EF4-FFF2-40B4-BE49-F238E27FC236}">
                <a16:creationId xmlns:a16="http://schemas.microsoft.com/office/drawing/2014/main" id="{D9095958-673C-4FFA-87B1-CFEF5BC2105C}"/>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28</a:t>
            </a:r>
          </a:p>
        </p:txBody>
      </p:sp>
    </p:spTree>
    <p:extLst>
      <p:ext uri="{BB962C8B-B14F-4D97-AF65-F5344CB8AC3E}">
        <p14:creationId xmlns:p14="http://schemas.microsoft.com/office/powerpoint/2010/main" val="502375322"/>
      </p:ext>
    </p:extLst>
  </p:cSld>
</p:sld>
</file>

<file path=ppt/slides/slide2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D04E0A-993B-4804-A309-C13E1879E22E}"/>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F11AD3F9-C566-475C-8E7A-FA3C32034BE5}"/>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Future commits automatically republish</a:t>
            </a:r>
          </a:p>
        </p:txBody>
      </p:sp>
      <p:pic>
        <p:nvPicPr>
          <p:cNvPr id="3" name="">
            <a:extLst xmlns:a="http://schemas.openxmlformats.org/drawingml/2006/main">
              <a:ext uri="{FF2B5EF4-FFF2-40B4-BE49-F238E27FC236}">
                <a16:creationId xmlns:a16="http://schemas.microsoft.com/office/drawing/2014/main" id="{77ECBF23-D2F6-42DF-8116-09B941C2EF8E}"/>
              </a:ext>
            </a:extLst>
          </p:cNvPr>
          <p:cNvPicPr>
            <a:picLocks xmlns:a="http://schemas.openxmlformats.org/drawingml/2006/main" noChangeAspect="1"/>
          </p:cNvPicPr>
          <p:nvPr/>
        </p:nvPicPr>
        <p:blipFill>
          <a:blip xmlns:r="http://schemas.openxmlformats.org/officeDocument/2006/relationships" xmlns:a="http://schemas.openxmlformats.org/drawingml/2006/main" r:embed="R49774d45024c4426"/>
          <a:stretch xmlns:a="http://schemas.openxmlformats.org/drawingml/2006/main"/>
        </p:blipFill>
        <p:spPr>
          <a:xfrm xmlns:a="http://schemas.openxmlformats.org/drawingml/2006/main">
            <a:off x="491762" y="1943100"/>
            <a:ext cx="7588976"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F90615F-5117-4DA2-9B60-F0341ED9EE47}"/>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Commit to main → Pages builds → deployment succeeds.</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Open the live URL after the successful run.</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Refresh or use a private window for a stale page.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A queued/failed build is not a published change.</a:t>
            </a:r>
          </a:p>
        </p:txBody>
      </p:sp>
      <p:sp>
        <p:nvSpPr>
          <p:cNvPr id="5" name="">
            <a:extLst xmlns:a="http://schemas.openxmlformats.org/drawingml/2006/main">
              <a:ext uri="{FF2B5EF4-FFF2-40B4-BE49-F238E27FC236}">
                <a16:creationId xmlns:a16="http://schemas.microsoft.com/office/drawing/2014/main" id="{E99A136D-7090-40EE-A4F3-EE586BEC5A3D}"/>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34D11F6F-B04B-4341-B2BD-DE83C8B05AF5}"/>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4f12e5f26e8a4aee"/>
              </a:rPr>
              <a:t>View successful classroom deployment ↗</a:t>
            </a:r>
          </a:p>
        </p:txBody>
      </p:sp>
      <p:sp>
        <p:nvSpPr>
          <p:cNvPr id="7" name="">
            <a:extLst xmlns:a="http://schemas.openxmlformats.org/drawingml/2006/main">
              <a:ext uri="{FF2B5EF4-FFF2-40B4-BE49-F238E27FC236}">
                <a16:creationId xmlns:a16="http://schemas.microsoft.com/office/drawing/2014/main" id="{C2BC4549-00B4-4326-BA26-C4F256783B00}"/>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29</a:t>
            </a:r>
          </a:p>
        </p:txBody>
      </p:sp>
    </p:spTree>
    <p:extLst>
      <p:ext uri="{BB962C8B-B14F-4D97-AF65-F5344CB8AC3E}">
        <p14:creationId xmlns:p14="http://schemas.microsoft.com/office/powerpoint/2010/main" val="699120487"/>
      </p:ext>
    </p:extLst>
  </p:cSld>
</p:sld>
</file>

<file path=ppt/slides/slide3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1DDAD2-5A4D-4432-9D2F-3F9B59C42E00}"/>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27A63A99-E948-4B9E-B737-1BD55C678F84}"/>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Verify desktop and mobile</a:t>
            </a:r>
          </a:p>
        </p:txBody>
      </p:sp>
      <p:pic>
        <p:nvPicPr>
          <p:cNvPr id="3" name="">
            <a:extLst xmlns:a="http://schemas.openxmlformats.org/drawingml/2006/main">
              <a:ext uri="{FF2B5EF4-FFF2-40B4-BE49-F238E27FC236}">
                <a16:creationId xmlns:a16="http://schemas.microsoft.com/office/drawing/2014/main" id="{F45E592F-D1D0-4BB6-A195-AB07DEE1B308}"/>
              </a:ext>
            </a:extLst>
          </p:cNvPr>
          <p:cNvPicPr>
            <a:picLocks xmlns:a="http://schemas.openxmlformats.org/drawingml/2006/main" noChangeAspect="1"/>
          </p:cNvPicPr>
          <p:nvPr/>
        </p:nvPicPr>
        <p:blipFill>
          <a:blip xmlns:r="http://schemas.openxmlformats.org/officeDocument/2006/relationships" xmlns:a="http://schemas.openxmlformats.org/drawingml/2006/main" r:embed="Re2d59ff0863b434c"/>
          <a:stretch xmlns:a="http://schemas.openxmlformats.org/drawingml/2006/main"/>
        </p:blipFill>
        <p:spPr>
          <a:xfrm xmlns:a="http://schemas.openxmlformats.org/drawingml/2006/main">
            <a:off x="1249647" y="1943100"/>
            <a:ext cx="6073206"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6310082-E0FA-4671-AE73-8BCF643CAFED}"/>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Open the live site on desktop and your phone.</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Read the introduction; test navigation.</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Open at least one real redacted PDF, signed out.</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No horizontal scrolling, tiny text or overlapping links.</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Ask a partner to reproduce the result.</a:t>
            </a:r>
          </a:p>
        </p:txBody>
      </p:sp>
      <p:sp>
        <p:nvSpPr>
          <p:cNvPr id="5" name="">
            <a:extLst xmlns:a="http://schemas.openxmlformats.org/drawingml/2006/main">
              <a:ext uri="{FF2B5EF4-FFF2-40B4-BE49-F238E27FC236}">
                <a16:creationId xmlns:a16="http://schemas.microsoft.com/office/drawing/2014/main" id="{7B85B331-BFD4-4BC8-932D-A28AE0AA0356}"/>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6E085F84-470C-4103-8414-9855487C29D2}"/>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b941a348db6e43ae"/>
              </a:rPr>
              <a:t>Open live verification example ↗</a:t>
            </a:r>
          </a:p>
        </p:txBody>
      </p:sp>
      <p:sp>
        <p:nvSpPr>
          <p:cNvPr id="7" name="">
            <a:extLst xmlns:a="http://schemas.openxmlformats.org/drawingml/2006/main">
              <a:ext uri="{FF2B5EF4-FFF2-40B4-BE49-F238E27FC236}">
                <a16:creationId xmlns:a16="http://schemas.microsoft.com/office/drawing/2014/main" id="{E3288960-8530-43DD-8C5C-3B8CF5385580}"/>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30</a:t>
            </a:r>
          </a:p>
        </p:txBody>
      </p:sp>
    </p:spTree>
    <p:extLst>
      <p:ext uri="{BB962C8B-B14F-4D97-AF65-F5344CB8AC3E}">
        <p14:creationId xmlns:p14="http://schemas.microsoft.com/office/powerpoint/2010/main" val="1527310045"/>
      </p:ext>
    </p:extLst>
  </p:cSld>
</p:sld>
</file>

<file path=ppt/slides/slide3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A9F0AA-14D8-4908-832A-3CB589497B3D}"/>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080FE731-391A-4280-A060-9D41D83792CC}"/>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Submit in the existing Blackboard assignment</a:t>
            </a:r>
          </a:p>
        </p:txBody>
      </p:sp>
      <p:pic>
        <p:nvPicPr>
          <p:cNvPr id="3" name="">
            <a:extLst xmlns:a="http://schemas.openxmlformats.org/drawingml/2006/main">
              <a:ext uri="{FF2B5EF4-FFF2-40B4-BE49-F238E27FC236}">
                <a16:creationId xmlns:a16="http://schemas.microsoft.com/office/drawing/2014/main" id="{55DFACF5-DC85-43A2-B58F-7B328A352EFF}"/>
              </a:ext>
            </a:extLst>
          </p:cNvPr>
          <p:cNvPicPr>
            <a:picLocks xmlns:a="http://schemas.openxmlformats.org/drawingml/2006/main" noChangeAspect="1"/>
          </p:cNvPicPr>
          <p:nvPr/>
        </p:nvPicPr>
        <p:blipFill>
          <a:blip xmlns:r="http://schemas.openxmlformats.org/officeDocument/2006/relationships" xmlns:a="http://schemas.openxmlformats.org/drawingml/2006/main" r:embed="R396f56b2b2d04ccf"/>
          <a:stretch xmlns:a="http://schemas.openxmlformats.org/drawingml/2006/main"/>
        </p:blipFill>
        <p:spPr>
          <a:xfrm xmlns:a="http://schemas.openxmlformats.org/drawingml/2006/main">
            <a:off x="1248660" y="1943100"/>
            <a:ext cx="6075179" cy="417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A98CAB6-77D9-4B96-93F4-C411D28DCBCB}"/>
              </a:ext>
            </a:extLst>
          </p:cNvPr>
          <p:cNvSpPr>
            <a:spLocks xmlns:a="http://schemas.openxmlformats.org/drawingml/2006/main" noGrp="1"/>
          </p:cNvSpPr>
          <p:nvPr/>
        </p:nvSpPr>
        <p:spPr>
          <a:xfrm xmlns:a="http://schemas.openxmlformats.org/drawingml/2006/main">
            <a:off x="8420100" y="2000250"/>
            <a:ext cx="329565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72D40"/>
                </a:solidFill>
                <a:latin typeface="DejaVu Sans"/>
                <a:ea typeface="DejaVu Sans"/>
                <a:cs typeface="DejaVu Sans"/>
              </a:defRPr>
            </a:defPPr>
          </a:lstStyle>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Open the existing DAY 14 portfolio publication assignment.</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Submit live website URL + repository URL.</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Include direct PDF URL + brief validation/reflection.</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Confirm a real, redacted PDF opens successfully.</a:t>
            </a:r>
          </a:p>
          <a:p xmlns:a="http://schemas.openxmlformats.org/drawingml/2006/main">
            <a:pPr>
              <a:defRPr sz="1950" b="0">
                <a:solidFill>
                  <a:srgbClr val="172D40"/>
                </a:solidFill>
                <a:latin typeface="DejaVu Sans"/>
                <a:ea typeface="DejaVu Sans"/>
                <a:cs typeface="DejaVu Sans"/>
              </a:defRPr>
            </a:pPr>
            <a:r>
              <a:rPr sz="1950" b="0">
                <a:solidFill>
                  <a:srgbClr val="172D40"/>
                </a:solidFill>
                <a:latin typeface="DejaVu Sans"/>
                <a:ea typeface="DejaVu Sans"/>
                <a:cs typeface="DejaVu Sans"/>
              </a:rPr>
              <a:t>Use Submit; verify Blackboard’s confirmation.</a:t>
            </a:r>
          </a:p>
        </p:txBody>
      </p:sp>
      <p:sp>
        <p:nvSpPr>
          <p:cNvPr id="5" name="">
            <a:extLst xmlns:a="http://schemas.openxmlformats.org/drawingml/2006/main">
              <a:ext uri="{FF2B5EF4-FFF2-40B4-BE49-F238E27FC236}">
                <a16:creationId xmlns:a16="http://schemas.microsoft.com/office/drawing/2014/main" id="{9B8D801A-09A8-4AFB-ADB4-1738B45B7151}"/>
              </a:ext>
            </a:extLst>
          </p:cNvPr>
          <p:cNvSpPr>
            <a:spLocks xmlns:a="http://schemas.openxmlformats.org/drawingml/2006/main" noGrp="1"/>
          </p:cNvSpPr>
          <p:nvPr/>
        </p:nvSpPr>
        <p:spPr>
          <a:xfrm xmlns:a="http://schemas.openxmlformats.org/drawingml/2006/main">
            <a:off x="457200" y="6153150"/>
            <a:ext cx="7715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36778"/>
                </a:solidFill>
                <a:latin typeface="DejaVu Sans"/>
                <a:ea typeface="DejaVu Sans"/>
                <a:cs typeface="DejaVu Sans"/>
              </a:defRPr>
            </a:defPPr>
          </a:lstStyle>
          <a:p xmlns:a="http://schemas.openxmlformats.org/drawingml/2006/main">
            <a:pPr>
              <a:defRPr sz="1125" b="0">
                <a:solidFill>
                  <a:srgbClr val="536778"/>
                </a:solidFill>
                <a:latin typeface="DejaVu Sans"/>
                <a:ea typeface="DejaVu Sans"/>
                <a:cs typeface="DejaVu Sans"/>
              </a:defRPr>
            </a:pPr>
            <a:r>
              <a:rPr sz="1125" b="0">
                <a:solidFill>
                  <a:srgbClr val="536778"/>
                </a:solidFill>
                <a:latin typeface="DejaVu Sans"/>
                <a:ea typeface="DejaVu Sans"/>
                <a:cs typeface="DejaVu Sans"/>
              </a:rPr>
              <a:t>Actual application capture · October 11, 2026</a:t>
            </a:r>
          </a:p>
        </p:txBody>
      </p:sp>
      <p:sp>
        <p:nvSpPr>
          <p:cNvPr id="6" name="">
            <a:extLst xmlns:a="http://schemas.openxmlformats.org/drawingml/2006/main">
              <a:ext uri="{FF2B5EF4-FFF2-40B4-BE49-F238E27FC236}">
                <a16:creationId xmlns:a16="http://schemas.microsoft.com/office/drawing/2014/main" id="{94E25318-52CC-47D2-BF62-9B342853CE44}"/>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5f52cd43b1bb4523"/>
              </a:rPr>
              <a:t>Open existing submission assignment ↗</a:t>
            </a:r>
          </a:p>
        </p:txBody>
      </p:sp>
      <p:sp>
        <p:nvSpPr>
          <p:cNvPr id="7" name="">
            <a:extLst xmlns:a="http://schemas.openxmlformats.org/drawingml/2006/main">
              <a:ext uri="{FF2B5EF4-FFF2-40B4-BE49-F238E27FC236}">
                <a16:creationId xmlns:a16="http://schemas.microsoft.com/office/drawing/2014/main" id="{85DB62D3-D496-4E2A-8163-17C5926EBCB0}"/>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31</a:t>
            </a:r>
          </a:p>
        </p:txBody>
      </p:sp>
    </p:spTree>
    <p:extLst>
      <p:ext uri="{BB962C8B-B14F-4D97-AF65-F5344CB8AC3E}">
        <p14:creationId xmlns:p14="http://schemas.microsoft.com/office/powerpoint/2010/main" val="275588037"/>
      </p:ext>
    </p:extLst>
  </p:cSld>
</p:sld>
</file>

<file path=ppt/slides/slide3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368A29-A62A-417B-B9D1-256823AEA663}"/>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DAAF6303-BC64-4AB0-B3AF-6D86C9F33B08}"/>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Troubleshoot publication failures</a:t>
            </a:r>
          </a:p>
        </p:txBody>
      </p:sp>
      <p:sp>
        <p:nvSpPr>
          <p:cNvPr id="3" name="">
            <a:extLst xmlns:a="http://schemas.openxmlformats.org/drawingml/2006/main">
              <a:ext uri="{FF2B5EF4-FFF2-40B4-BE49-F238E27FC236}">
                <a16:creationId xmlns:a16="http://schemas.microsoft.com/office/drawing/2014/main" id="{61EC07C4-3B3F-4D35-BE5E-EC75D6F4F4BF}"/>
              </a:ext>
            </a:extLst>
          </p:cNvPr>
          <p:cNvSpPr>
            <a:spLocks xmlns:a="http://schemas.openxmlformats.org/drawingml/2006/main" noGrp="1"/>
          </p:cNvSpPr>
          <p:nvPr/>
        </p:nvSpPr>
        <p:spPr>
          <a:xfrm xmlns:a="http://schemas.openxmlformats.org/drawingml/2006/main">
            <a:off x="609600" y="2095500"/>
            <a:ext cx="108204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D40"/>
                </a:solidFill>
                <a:latin typeface="DejaVu Sans"/>
                <a:ea typeface="DejaVu Sans"/>
                <a:cs typeface="DejaVu Sans"/>
              </a:defRPr>
            </a:defPPr>
          </a:lstStyle>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Code view? Use the github.io URL.</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404 homepage? Check exact name + root index.html + Pages.</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PDF 404? Check artifacts/, filename, case and commit.</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Old version? Check successful deployment; refresh.</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Sensitive content? Stop publication and notify instructor.</a:t>
            </a:r>
          </a:p>
        </p:txBody>
      </p:sp>
      <p:sp>
        <p:nvSpPr>
          <p:cNvPr id="4" name="">
            <a:extLst xmlns:a="http://schemas.openxmlformats.org/drawingml/2006/main">
              <a:ext uri="{FF2B5EF4-FFF2-40B4-BE49-F238E27FC236}">
                <a16:creationId xmlns:a16="http://schemas.microsoft.com/office/drawing/2014/main" id="{89224D20-1576-4E5E-A36C-F48F5D95637A}"/>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32</a:t>
            </a:r>
          </a:p>
        </p:txBody>
      </p:sp>
    </p:spTree>
    <p:extLst>
      <p:ext uri="{BB962C8B-B14F-4D97-AF65-F5344CB8AC3E}">
        <p14:creationId xmlns:p14="http://schemas.microsoft.com/office/powerpoint/2010/main" val="69479582"/>
      </p:ext>
    </p:extLst>
  </p:cSld>
</p:sld>
</file>

<file path=ppt/slides/slide3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B94497C-69C3-4B3E-A614-B7DDB894979A}"/>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E0C44438-9016-43DD-830B-CCB559683C21}"/>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Qualify your professional portfolio</a:t>
            </a:r>
          </a:p>
        </p:txBody>
      </p:sp>
      <p:sp>
        <p:nvSpPr>
          <p:cNvPr id="3" name="">
            <a:extLst xmlns:a="http://schemas.openxmlformats.org/drawingml/2006/main">
              <a:ext uri="{FF2B5EF4-FFF2-40B4-BE49-F238E27FC236}">
                <a16:creationId xmlns:a16="http://schemas.microsoft.com/office/drawing/2014/main" id="{93AA84AB-16E0-4CBA-81A8-389924A6634F}"/>
              </a:ext>
            </a:extLst>
          </p:cNvPr>
          <p:cNvSpPr>
            <a:spLocks xmlns:a="http://schemas.openxmlformats.org/drawingml/2006/main" noGrp="1"/>
          </p:cNvSpPr>
          <p:nvPr/>
        </p:nvSpPr>
        <p:spPr>
          <a:xfrm xmlns:a="http://schemas.openxmlformats.org/drawingml/2006/main">
            <a:off x="609600" y="2095500"/>
            <a:ext cx="108204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D40"/>
                </a:solidFill>
                <a:latin typeface="DejaVu Sans"/>
                <a:ea typeface="DejaVu Sans"/>
                <a:cs typeface="DejaVu Sans"/>
              </a:defRPr>
            </a:defPPr>
          </a:lstStyle>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 Personal public repository and truthful homepage.</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 Reviewed Word source saved privately.</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 Real redacted PDF opens from the live site.</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 Desktop + phone navigation tested.</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 Main/root Pages deployment successful.</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 Live URL + repo URL + PDF URL + reflection submitted.</a:t>
            </a:r>
          </a:p>
        </p:txBody>
      </p:sp>
      <p:sp>
        <p:nvSpPr>
          <p:cNvPr id="4" name="">
            <a:extLst xmlns:a="http://schemas.openxmlformats.org/drawingml/2006/main">
              <a:ext uri="{FF2B5EF4-FFF2-40B4-BE49-F238E27FC236}">
                <a16:creationId xmlns:a16="http://schemas.microsoft.com/office/drawing/2014/main" id="{000CAE52-18B2-423E-8033-2C5C56F3C6BC}"/>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f6f33640ec854342"/>
              </a:rPr>
              <a:t>Return to the existing assignment ↗</a:t>
            </a:r>
          </a:p>
        </p:txBody>
      </p:sp>
      <p:sp>
        <p:nvSpPr>
          <p:cNvPr id="5" name="">
            <a:extLst xmlns:a="http://schemas.openxmlformats.org/drawingml/2006/main">
              <a:ext uri="{FF2B5EF4-FFF2-40B4-BE49-F238E27FC236}">
                <a16:creationId xmlns:a16="http://schemas.microsoft.com/office/drawing/2014/main" id="{6E52393F-D9F1-4BED-930E-2C314F3CE394}"/>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33</a:t>
            </a:r>
          </a:p>
        </p:txBody>
      </p:sp>
    </p:spTree>
    <p:extLst>
      <p:ext uri="{BB962C8B-B14F-4D97-AF65-F5344CB8AC3E}">
        <p14:creationId xmlns:p14="http://schemas.microsoft.com/office/powerpoint/2010/main" val="874509376"/>
      </p:ext>
    </p:extLst>
  </p:cSld>
</p:sld>
</file>

<file path=ppt/slides/slide3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310F55-BACF-44F5-9FCD-F30F571CA270}"/>
              </a:ext>
            </a:extLst>
          </p:cNvPr>
          <p:cNvSpPr>
            <a:spLocks xmlns:a="http://schemas.openxmlformats.org/drawingml/2006/main" noGrp="1"/>
          </p:cNvSpPr>
          <p:nvPr/>
        </p:nvSpPr>
        <p:spPr>
          <a:xfrm xmlns:a="http://schemas.openxmlformats.org/drawingml/2006/main">
            <a:off x="457200" y="2095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387C83"/>
                </a:solidFill>
                <a:latin typeface="DejaVu Sans"/>
                <a:ea typeface="DejaVu Sans"/>
                <a:cs typeface="DejaVu Sans"/>
              </a:defRPr>
            </a:defPPr>
          </a:lstStyle>
          <a:p xmlns:a="http://schemas.openxmlformats.org/drawingml/2006/main">
            <a:pPr>
              <a:defRPr sz="1275" b="1">
                <a:solidFill>
                  <a:srgbClr val="387C83"/>
                </a:solidFill>
                <a:latin typeface="DejaVu Sans"/>
                <a:ea typeface="DejaVu Sans"/>
                <a:cs typeface="DejaVu Sans"/>
              </a:defRPr>
            </a:pPr>
            <a:r>
              <a:rPr sz="1275" b="1">
                <a:solidFill>
                  <a:srgbClr val="387C83"/>
                </a:solidFill>
                <a:latin typeface="DejaVu Sans"/>
                <a:ea typeface="DejaVu Sans"/>
                <a:cs typeface="DejaVu Sans"/>
              </a:rPr>
              <a:t>CIT-205  /  PORTFOLIO PUBLICATION</a:t>
            </a:r>
          </a:p>
        </p:txBody>
      </p:sp>
      <p:sp>
        <p:nvSpPr>
          <p:cNvPr id="2" name="">
            <a:extLst xmlns:a="http://schemas.openxmlformats.org/drawingml/2006/main">
              <a:ext uri="{FF2B5EF4-FFF2-40B4-BE49-F238E27FC236}">
                <a16:creationId xmlns:a16="http://schemas.microsoft.com/office/drawing/2014/main" id="{40D2D51A-8220-48D4-B656-8B42F9C11712}"/>
              </a:ext>
            </a:extLst>
          </p:cNvPr>
          <p:cNvSpPr>
            <a:spLocks xmlns:a="http://schemas.openxmlformats.org/drawingml/2006/main" noGrp="1"/>
          </p:cNvSpPr>
          <p:nvPr/>
        </p:nvSpPr>
        <p:spPr>
          <a:xfrm xmlns:a="http://schemas.openxmlformats.org/drawingml/2006/main">
            <a:off x="457200" y="628650"/>
            <a:ext cx="112776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B3E"/>
                </a:solidFill>
                <a:latin typeface="DejaVu Sans"/>
                <a:ea typeface="DejaVu Sans"/>
                <a:cs typeface="DejaVu Sans"/>
              </a:defRPr>
            </a:defPPr>
          </a:lstStyle>
          <a:p xmlns:a="http://schemas.openxmlformats.org/drawingml/2006/main">
            <a:pPr>
              <a:defRPr sz="3600" b="1">
                <a:solidFill>
                  <a:srgbClr val="132B3E"/>
                </a:solidFill>
                <a:latin typeface="DejaVu Sans"/>
                <a:ea typeface="DejaVu Sans"/>
                <a:cs typeface="DejaVu Sans"/>
              </a:defRPr>
            </a:pPr>
            <a:r>
              <a:rPr sz="3600" b="1">
                <a:solidFill>
                  <a:srgbClr val="132B3E"/>
                </a:solidFill>
                <a:latin typeface="DejaVu Sans"/>
                <a:ea typeface="DejaVu Sans"/>
                <a:cs typeface="DejaVu Sans"/>
              </a:rPr>
              <a:t>Your next artifact belongs here too</a:t>
            </a:r>
          </a:p>
        </p:txBody>
      </p:sp>
      <p:sp>
        <p:nvSpPr>
          <p:cNvPr id="3" name="">
            <a:extLst xmlns:a="http://schemas.openxmlformats.org/drawingml/2006/main">
              <a:ext uri="{FF2B5EF4-FFF2-40B4-BE49-F238E27FC236}">
                <a16:creationId xmlns:a16="http://schemas.microsoft.com/office/drawing/2014/main" id="{83A4BF82-64E4-42DB-8998-B9729756078C}"/>
              </a:ext>
            </a:extLst>
          </p:cNvPr>
          <p:cNvSpPr>
            <a:spLocks xmlns:a="http://schemas.openxmlformats.org/drawingml/2006/main" noGrp="1"/>
          </p:cNvSpPr>
          <p:nvPr/>
        </p:nvSpPr>
        <p:spPr>
          <a:xfrm xmlns:a="http://schemas.openxmlformats.org/drawingml/2006/main">
            <a:off x="609600" y="2095500"/>
            <a:ext cx="108204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D40"/>
                </a:solidFill>
                <a:latin typeface="DejaVu Sans"/>
                <a:ea typeface="DejaVu Sans"/>
                <a:cs typeface="DejaVu Sans"/>
              </a:defRPr>
            </a:defPPr>
          </a:lstStyle>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Reuse the portfolio throughout CIT.</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Add only completed, reviewed, authorized evidence.</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Keep meaningful commits and revise after feedback.</a:t>
            </a:r>
          </a:p>
          <a:p xmlns:a="http://schemas.openxmlformats.org/drawingml/2006/main">
            <a:pPr>
              <a:defRPr sz="2400" b="0">
                <a:solidFill>
                  <a:srgbClr val="172D40"/>
                </a:solidFill>
                <a:latin typeface="DejaVu Sans"/>
                <a:ea typeface="DejaVu Sans"/>
                <a:cs typeface="DejaVu Sans"/>
              </a:defRPr>
            </a:pPr>
            <a:r>
              <a:rPr sz="2400" b="0">
                <a:solidFill>
                  <a:srgbClr val="172D40"/>
                </a:solidFill>
                <a:latin typeface="DejaVu Sans"/>
                <a:ea typeface="DejaVu Sans"/>
                <a:cs typeface="DejaVu Sans"/>
              </a:rPr>
              <a:t>The showcase is optional and separately reviewed.</a:t>
            </a:r>
          </a:p>
        </p:txBody>
      </p:sp>
      <p:sp>
        <p:nvSpPr>
          <p:cNvPr id="4" name="">
            <a:extLst xmlns:a="http://schemas.openxmlformats.org/drawingml/2006/main">
              <a:ext uri="{FF2B5EF4-FFF2-40B4-BE49-F238E27FC236}">
                <a16:creationId xmlns:a16="http://schemas.microsoft.com/office/drawing/2014/main" id="{EB4BE95C-A9AD-4101-A455-EBF8EDD445C5}"/>
              </a:ext>
            </a:extLst>
          </p:cNvPr>
          <p:cNvSpPr>
            <a:spLocks xmlns:a="http://schemas.openxmlformats.org/drawingml/2006/main" noGrp="1"/>
          </p:cNvSpPr>
          <p:nvPr/>
        </p:nvSpPr>
        <p:spPr>
          <a:xfrm xmlns:a="http://schemas.openxmlformats.org/drawingml/2006/main">
            <a:off x="457200" y="6457950"/>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136D88"/>
                </a:solidFill>
                <a:latin typeface="DejaVu Sans"/>
                <a:ea typeface="DejaVu Sans"/>
                <a:cs typeface="DejaVu Sans"/>
              </a:defRPr>
            </a:defPPr>
          </a:lstStyle>
          <a:p xmlns:a="http://schemas.openxmlformats.org/drawingml/2006/main">
            <a:pPr>
              <a:defRPr sz="1350" b="1">
                <a:solidFill>
                  <a:srgbClr val="136D88"/>
                </a:solidFill>
                <a:latin typeface="DejaVu Sans"/>
                <a:ea typeface="DejaVu Sans"/>
                <a:cs typeface="DejaVu Sans"/>
              </a:defRPr>
            </a:pPr>
            <a:r>
              <a:rPr sz="1350" b="1">
                <a:solidFill>
                  <a:srgbClr val="136D88"/>
                </a:solidFill>
                <a:latin typeface="DejaVu Sans"/>
                <a:ea typeface="DejaVu Sans"/>
                <a:cs typeface="DejaVu Sans"/>
                <a:hlinkClick xmlns:r="http://schemas.openxmlformats.org/officeDocument/2006/relationships" r:id="R4f28d6f9f01d446a"/>
              </a:rPr>
              <a:t>View the SOTE portfolio showcase ↗</a:t>
            </a:r>
          </a:p>
        </p:txBody>
      </p:sp>
      <p:sp>
        <p:nvSpPr>
          <p:cNvPr id="5" name="">
            <a:extLst xmlns:a="http://schemas.openxmlformats.org/drawingml/2006/main">
              <a:ext uri="{FF2B5EF4-FFF2-40B4-BE49-F238E27FC236}">
                <a16:creationId xmlns:a16="http://schemas.microsoft.com/office/drawing/2014/main" id="{4B62D325-24A7-4F5E-B8AA-1076CE9968AE}"/>
              </a:ext>
            </a:extLst>
          </p:cNvPr>
          <p:cNvSpPr>
            <a:spLocks xmlns:a="http://schemas.openxmlformats.org/drawingml/2006/main" noGrp="1"/>
          </p:cNvSpPr>
          <p:nvPr/>
        </p:nvSpPr>
        <p:spPr>
          <a:xfrm xmlns:a="http://schemas.openxmlformats.org/drawingml/2006/main">
            <a:off x="113347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778"/>
                </a:solidFill>
                <a:latin typeface="DejaVu Sans"/>
                <a:ea typeface="DejaVu Sans"/>
                <a:cs typeface="DejaVu Sans"/>
              </a:defRPr>
            </a:defPPr>
          </a:lstStyle>
          <a:p xmlns:a="http://schemas.openxmlformats.org/drawingml/2006/main">
            <a:pPr>
              <a:defRPr sz="1350" b="0">
                <a:solidFill>
                  <a:srgbClr val="536778"/>
                </a:solidFill>
                <a:latin typeface="DejaVu Sans"/>
                <a:ea typeface="DejaVu Sans"/>
                <a:cs typeface="DejaVu Sans"/>
              </a:defRPr>
            </a:pPr>
            <a:r>
              <a:rPr sz="1350" b="0">
                <a:solidFill>
                  <a:srgbClr val="536778"/>
                </a:solidFill>
                <a:latin typeface="DejaVu Sans"/>
                <a:ea typeface="DejaVu Sans"/>
                <a:cs typeface="DejaVu Sans"/>
              </a:rPr>
              <a:t>34</a:t>
            </a:r>
          </a:p>
        </p:txBody>
      </p:sp>
    </p:spTree>
    <p:extLst>
      <p:ext uri="{BB962C8B-B14F-4D97-AF65-F5344CB8AC3E}">
        <p14:creationId xmlns:p14="http://schemas.microsoft.com/office/powerpoint/2010/main" val="12895971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2026-10-11T19:16:30.0860000Z</dcterms:created>
  <dcterms:modified xsi:type="dcterms:W3CDTF">2026-10-11T19:16:30.0860000Z</dcterms:modified>
</coreProperties>
</file>